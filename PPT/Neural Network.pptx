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libri (MS)" panose="020B0604020202020204" charset="0"/>
      <p:regular r:id="rId18"/>
    </p:embeddedFont>
    <p:embeddedFont>
      <p:font typeface="Calibri (MS) Bold" panose="020B0604020202020204" charset="0"/>
      <p:regular r:id="rId19"/>
    </p:embeddedFont>
    <p:embeddedFont>
      <p:font typeface="Canva Sans" panose="020B0604020202020204" charset="0"/>
      <p:regular r:id="rId20"/>
    </p:embeddedFont>
    <p:embeddedFont>
      <p:font typeface="Canva Sans Bold" panose="020B0604020202020204" charset="0"/>
      <p:regular r:id="rId21"/>
    </p:embeddedFont>
    <p:embeddedFont>
      <p:font typeface="Fredoka" panose="020B0604020202020204" charset="0"/>
      <p:regular r:id="rId22"/>
    </p:embeddedFont>
    <p:embeddedFont>
      <p:font typeface="Poppins" panose="00000500000000000000" pitchFamily="2" charset="0"/>
      <p:regular r:id="rId23"/>
    </p:embeddedFont>
    <p:embeddedFont>
      <p:font typeface="Poppins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4.jpe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34"/>
            <a:ext cx="18283141" cy="10289734"/>
          </a:xfrm>
          <a:custGeom>
            <a:avLst/>
            <a:gdLst/>
            <a:ahLst/>
            <a:cxnLst/>
            <a:rect l="l" t="t" r="r" b="b"/>
            <a:pathLst>
              <a:path w="18283141" h="10289734">
                <a:moveTo>
                  <a:pt x="0" y="0"/>
                </a:moveTo>
                <a:lnTo>
                  <a:pt x="18283141" y="0"/>
                </a:lnTo>
                <a:lnTo>
                  <a:pt x="18283141" y="10289734"/>
                </a:lnTo>
                <a:lnTo>
                  <a:pt x="0" y="10289734"/>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807201" y="3434836"/>
            <a:ext cx="12063023" cy="6531391"/>
            <a:chOff x="0" y="0"/>
            <a:chExt cx="25047259" cy="13561562"/>
          </a:xfrm>
        </p:grpSpPr>
        <p:sp>
          <p:nvSpPr>
            <p:cNvPr id="4" name="Freeform 4"/>
            <p:cNvSpPr/>
            <p:nvPr/>
          </p:nvSpPr>
          <p:spPr>
            <a:xfrm>
              <a:off x="0" y="0"/>
              <a:ext cx="25047259" cy="13561563"/>
            </a:xfrm>
            <a:custGeom>
              <a:avLst/>
              <a:gdLst/>
              <a:ahLst/>
              <a:cxnLst/>
              <a:rect l="l" t="t" r="r" b="b"/>
              <a:pathLst>
                <a:path w="25047259" h="13561563">
                  <a:moveTo>
                    <a:pt x="0" y="0"/>
                  </a:moveTo>
                  <a:lnTo>
                    <a:pt x="25047259" y="0"/>
                  </a:lnTo>
                  <a:lnTo>
                    <a:pt x="25047259" y="13561563"/>
                  </a:lnTo>
                  <a:lnTo>
                    <a:pt x="0" y="13561563"/>
                  </a:lnTo>
                  <a:lnTo>
                    <a:pt x="0" y="0"/>
                  </a:lnTo>
                  <a:close/>
                </a:path>
              </a:pathLst>
            </a:custGeom>
            <a:blipFill>
              <a:blip r:embed="rId3"/>
              <a:stretch>
                <a:fillRect t="-230" b="-230"/>
              </a:stretch>
            </a:blipFill>
          </p:spPr>
        </p:sp>
      </p:grpSp>
      <p:grpSp>
        <p:nvGrpSpPr>
          <p:cNvPr id="5" name="Group 5"/>
          <p:cNvGrpSpPr/>
          <p:nvPr/>
        </p:nvGrpSpPr>
        <p:grpSpPr>
          <a:xfrm>
            <a:off x="214263" y="307872"/>
            <a:ext cx="17432179" cy="1001535"/>
            <a:chOff x="0" y="0"/>
            <a:chExt cx="23242905" cy="1335380"/>
          </a:xfrm>
        </p:grpSpPr>
        <p:sp>
          <p:nvSpPr>
            <p:cNvPr id="6" name="Freeform 6"/>
            <p:cNvSpPr/>
            <p:nvPr/>
          </p:nvSpPr>
          <p:spPr>
            <a:xfrm>
              <a:off x="0" y="0"/>
              <a:ext cx="23242904" cy="1335375"/>
            </a:xfrm>
            <a:custGeom>
              <a:avLst/>
              <a:gdLst/>
              <a:ahLst/>
              <a:cxnLst/>
              <a:rect l="l" t="t" r="r" b="b"/>
              <a:pathLst>
                <a:path w="23242904" h="1335375">
                  <a:moveTo>
                    <a:pt x="0" y="0"/>
                  </a:moveTo>
                  <a:lnTo>
                    <a:pt x="23242904" y="0"/>
                  </a:lnTo>
                  <a:lnTo>
                    <a:pt x="23242904" y="1335375"/>
                  </a:lnTo>
                  <a:lnTo>
                    <a:pt x="0" y="1335375"/>
                  </a:lnTo>
                  <a:close/>
                </a:path>
              </a:pathLst>
            </a:custGeom>
            <a:blipFill>
              <a:blip r:embed="rId4">
                <a:alphaModFix amt="0"/>
              </a:blip>
              <a:stretch>
                <a:fillRect t="-308032" b="-270262"/>
              </a:stretch>
            </a:blipFill>
          </p:spPr>
        </p:sp>
        <p:sp>
          <p:nvSpPr>
            <p:cNvPr id="7" name="TextBox 7"/>
            <p:cNvSpPr txBox="1"/>
            <p:nvPr/>
          </p:nvSpPr>
          <p:spPr>
            <a:xfrm>
              <a:off x="0" y="-38100"/>
              <a:ext cx="23242905" cy="137348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Artificial Neural Network:</a:t>
              </a:r>
            </a:p>
          </p:txBody>
        </p:sp>
      </p:grpSp>
      <p:sp>
        <p:nvSpPr>
          <p:cNvPr id="8" name="TextBox 8"/>
          <p:cNvSpPr txBox="1"/>
          <p:nvPr/>
        </p:nvSpPr>
        <p:spPr>
          <a:xfrm>
            <a:off x="700962" y="1242732"/>
            <a:ext cx="17432179" cy="1000125"/>
          </a:xfrm>
          <a:prstGeom prst="rect">
            <a:avLst/>
          </a:prstGeom>
        </p:spPr>
        <p:txBody>
          <a:bodyPr lIns="0" tIns="0" rIns="0" bIns="0" rtlCol="0" anchor="t">
            <a:spAutoFit/>
          </a:bodyPr>
          <a:lstStyle/>
          <a:p>
            <a:pPr algn="l">
              <a:lnSpc>
                <a:spcPts val="3719"/>
              </a:lnSpc>
            </a:pPr>
            <a:r>
              <a:rPr lang="en-US" sz="3099">
                <a:solidFill>
                  <a:srgbClr val="000000"/>
                </a:solidFill>
                <a:latin typeface="Calibri (MS)"/>
                <a:ea typeface="Calibri (MS)"/>
                <a:cs typeface="Calibri (MS)"/>
                <a:sym typeface="Calibri (MS)"/>
              </a:rPr>
              <a:t>It is a computational model inspired by human brain.It consist of interconnected neurons organized into layers that learn patterns from data to perform tasks such as calssification,prediction and recognition</a:t>
            </a:r>
          </a:p>
        </p:txBody>
      </p:sp>
      <p:sp>
        <p:nvSpPr>
          <p:cNvPr id="9" name="TextBox 9"/>
          <p:cNvSpPr txBox="1"/>
          <p:nvPr/>
        </p:nvSpPr>
        <p:spPr>
          <a:xfrm>
            <a:off x="214263" y="2667174"/>
            <a:ext cx="3353648" cy="581025"/>
          </a:xfrm>
          <a:prstGeom prst="rect">
            <a:avLst/>
          </a:prstGeom>
        </p:spPr>
        <p:txBody>
          <a:bodyPr lIns="0" tIns="0" rIns="0" bIns="0" rtlCol="0" anchor="t">
            <a:spAutoFit/>
          </a:bodyPr>
          <a:lstStyle/>
          <a:p>
            <a:pPr algn="l">
              <a:lnSpc>
                <a:spcPts val="4320"/>
              </a:lnSpc>
            </a:pPr>
            <a:r>
              <a:rPr lang="en-US" sz="3600" b="1">
                <a:solidFill>
                  <a:srgbClr val="1E3A8A"/>
                </a:solidFill>
                <a:latin typeface="Poppins Bold"/>
                <a:ea typeface="Poppins Bold"/>
                <a:cs typeface="Poppins Bold"/>
                <a:sym typeface="Poppins Bold"/>
              </a:rPr>
              <a:t>Working</a:t>
            </a:r>
          </a:p>
        </p:txBody>
      </p:sp>
      <p:sp>
        <p:nvSpPr>
          <p:cNvPr id="10" name="TextBox 10"/>
          <p:cNvSpPr txBox="1"/>
          <p:nvPr/>
        </p:nvSpPr>
        <p:spPr>
          <a:xfrm>
            <a:off x="214263" y="3657774"/>
            <a:ext cx="7505845" cy="2330789"/>
          </a:xfrm>
          <a:prstGeom prst="rect">
            <a:avLst/>
          </a:prstGeom>
        </p:spPr>
        <p:txBody>
          <a:bodyPr lIns="0" tIns="0" rIns="0" bIns="0" rtlCol="0" anchor="t">
            <a:spAutoFit/>
          </a:bodyPr>
          <a:lstStyle/>
          <a:p>
            <a:pPr marL="542501" lvl="1" indent="-271250" algn="l">
              <a:lnSpc>
                <a:spcPts val="3597"/>
              </a:lnSpc>
              <a:buFont typeface="Arial"/>
              <a:buChar char="•"/>
            </a:pPr>
            <a:r>
              <a:rPr lang="en-US" sz="2997">
                <a:solidFill>
                  <a:srgbClr val="000000"/>
                </a:solidFill>
                <a:latin typeface="Calibri (MS)"/>
                <a:ea typeface="Calibri (MS)"/>
                <a:cs typeface="Calibri (MS)"/>
                <a:sym typeface="Calibri (MS)"/>
              </a:rPr>
              <a:t>The </a:t>
            </a:r>
            <a:r>
              <a:rPr lang="en-US" sz="2997" b="1">
                <a:solidFill>
                  <a:srgbClr val="000000"/>
                </a:solidFill>
                <a:latin typeface="Calibri (MS) Bold"/>
                <a:ea typeface="Calibri (MS) Bold"/>
                <a:cs typeface="Calibri (MS) Bold"/>
                <a:sym typeface="Calibri (MS) Bold"/>
              </a:rPr>
              <a:t>input layer</a:t>
            </a:r>
            <a:r>
              <a:rPr lang="en-US" sz="2997">
                <a:solidFill>
                  <a:srgbClr val="000000"/>
                </a:solidFill>
                <a:latin typeface="Calibri (MS)"/>
                <a:ea typeface="Calibri (MS)"/>
                <a:cs typeface="Calibri (MS)"/>
                <a:sym typeface="Calibri (MS)"/>
              </a:rPr>
              <a:t> receives the input data. </a:t>
            </a:r>
          </a:p>
          <a:p>
            <a:pPr marL="542501" lvl="1" indent="-271250" algn="l">
              <a:lnSpc>
                <a:spcPts val="3597"/>
              </a:lnSpc>
              <a:buFont typeface="Arial"/>
              <a:buChar char="•"/>
            </a:pPr>
            <a:r>
              <a:rPr lang="en-US" sz="2997">
                <a:solidFill>
                  <a:srgbClr val="000000"/>
                </a:solidFill>
                <a:latin typeface="Calibri (MS)"/>
                <a:ea typeface="Calibri (MS)"/>
                <a:cs typeface="Calibri (MS)"/>
                <a:sym typeface="Calibri (MS)"/>
              </a:rPr>
              <a:t>The </a:t>
            </a:r>
            <a:r>
              <a:rPr lang="en-US" sz="2997" b="1">
                <a:solidFill>
                  <a:srgbClr val="000000"/>
                </a:solidFill>
                <a:latin typeface="Calibri (MS) Bold"/>
                <a:ea typeface="Calibri (MS) Bold"/>
                <a:cs typeface="Calibri (MS) Bold"/>
                <a:sym typeface="Calibri (MS) Bold"/>
              </a:rPr>
              <a:t>hidden layers</a:t>
            </a:r>
            <a:r>
              <a:rPr lang="en-US" sz="2997">
                <a:solidFill>
                  <a:srgbClr val="000000"/>
                </a:solidFill>
                <a:latin typeface="Calibri (MS)"/>
                <a:ea typeface="Calibri (MS)"/>
                <a:cs typeface="Calibri (MS)"/>
                <a:sym typeface="Calibri (MS)"/>
              </a:rPr>
              <a:t> process the data and learn meaningful patterns.</a:t>
            </a:r>
          </a:p>
          <a:p>
            <a:pPr marL="542501" lvl="1" indent="-271250" algn="l">
              <a:lnSpc>
                <a:spcPts val="3597"/>
              </a:lnSpc>
              <a:buFont typeface="Arial"/>
              <a:buChar char="•"/>
            </a:pPr>
            <a:r>
              <a:rPr lang="en-US" sz="2997">
                <a:solidFill>
                  <a:srgbClr val="000000"/>
                </a:solidFill>
                <a:latin typeface="Calibri (MS)"/>
                <a:ea typeface="Calibri (MS)"/>
                <a:cs typeface="Calibri (MS)"/>
                <a:sym typeface="Calibri (MS)"/>
              </a:rPr>
              <a:t>The </a:t>
            </a:r>
            <a:r>
              <a:rPr lang="en-US" sz="2997" b="1">
                <a:solidFill>
                  <a:srgbClr val="000000"/>
                </a:solidFill>
                <a:latin typeface="Calibri (MS) Bold"/>
                <a:ea typeface="Calibri (MS) Bold"/>
                <a:cs typeface="Calibri (MS) Bold"/>
                <a:sym typeface="Calibri (MS) Bold"/>
              </a:rPr>
              <a:t>output layer</a:t>
            </a:r>
            <a:r>
              <a:rPr lang="en-US" sz="2997">
                <a:solidFill>
                  <a:srgbClr val="000000"/>
                </a:solidFill>
                <a:latin typeface="Calibri (MS)"/>
                <a:ea typeface="Calibri (MS)"/>
                <a:cs typeface="Calibri (MS)"/>
                <a:sym typeface="Calibri (MS)"/>
              </a:rPr>
              <a:t> produces the final prediction or classification.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963491" y="3370083"/>
            <a:ext cx="14361018" cy="6605959"/>
            <a:chOff x="0" y="0"/>
            <a:chExt cx="29457253" cy="13550112"/>
          </a:xfrm>
        </p:grpSpPr>
        <p:sp>
          <p:nvSpPr>
            <p:cNvPr id="4" name="Freeform 4"/>
            <p:cNvSpPr/>
            <p:nvPr/>
          </p:nvSpPr>
          <p:spPr>
            <a:xfrm>
              <a:off x="0" y="0"/>
              <a:ext cx="29457253" cy="13550112"/>
            </a:xfrm>
            <a:custGeom>
              <a:avLst/>
              <a:gdLst/>
              <a:ahLst/>
              <a:cxnLst/>
              <a:rect l="l" t="t" r="r" b="b"/>
              <a:pathLst>
                <a:path w="29457253" h="13550112">
                  <a:moveTo>
                    <a:pt x="0" y="0"/>
                  </a:moveTo>
                  <a:lnTo>
                    <a:pt x="29457253" y="0"/>
                  </a:lnTo>
                  <a:lnTo>
                    <a:pt x="29457253" y="13550112"/>
                  </a:lnTo>
                  <a:lnTo>
                    <a:pt x="0" y="13550112"/>
                  </a:lnTo>
                  <a:lnTo>
                    <a:pt x="0" y="0"/>
                  </a:lnTo>
                  <a:close/>
                </a:path>
              </a:pathLst>
            </a:custGeom>
            <a:blipFill>
              <a:blip r:embed="rId3"/>
              <a:stretch>
                <a:fillRect l="-410" r="-410"/>
              </a:stretch>
            </a:blipFill>
          </p:spPr>
        </p:sp>
      </p:grpSp>
      <p:grpSp>
        <p:nvGrpSpPr>
          <p:cNvPr id="5" name="Group 5"/>
          <p:cNvGrpSpPr/>
          <p:nvPr/>
        </p:nvGrpSpPr>
        <p:grpSpPr>
          <a:xfrm>
            <a:off x="842962" y="835819"/>
            <a:ext cx="642938" cy="514350"/>
            <a:chOff x="0" y="0"/>
            <a:chExt cx="857250" cy="685800"/>
          </a:xfrm>
        </p:grpSpPr>
        <p:sp>
          <p:nvSpPr>
            <p:cNvPr id="6" name="Freeform 6" descr="image.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4"/>
              <a:stretch>
                <a:fillRect t="-1388" b="-1388"/>
              </a:stretch>
            </a:blipFill>
          </p:spPr>
        </p:sp>
      </p:grpSp>
      <p:grpSp>
        <p:nvGrpSpPr>
          <p:cNvPr id="7" name="Group 7"/>
          <p:cNvGrpSpPr/>
          <p:nvPr/>
        </p:nvGrpSpPr>
        <p:grpSpPr>
          <a:xfrm>
            <a:off x="1700212" y="700088"/>
            <a:ext cx="16532066" cy="1001535"/>
            <a:chOff x="0" y="0"/>
            <a:chExt cx="22042755" cy="1335380"/>
          </a:xfrm>
        </p:grpSpPr>
        <p:sp>
          <p:nvSpPr>
            <p:cNvPr id="8" name="Freeform 8"/>
            <p:cNvSpPr/>
            <p:nvPr/>
          </p:nvSpPr>
          <p:spPr>
            <a:xfrm>
              <a:off x="0" y="0"/>
              <a:ext cx="22042754" cy="1335380"/>
            </a:xfrm>
            <a:custGeom>
              <a:avLst/>
              <a:gdLst/>
              <a:ahLst/>
              <a:cxnLst/>
              <a:rect l="l" t="t" r="r" b="b"/>
              <a:pathLst>
                <a:path w="22042754" h="1335380">
                  <a:moveTo>
                    <a:pt x="0" y="0"/>
                  </a:moveTo>
                  <a:lnTo>
                    <a:pt x="22042754" y="0"/>
                  </a:lnTo>
                  <a:lnTo>
                    <a:pt x="22042754" y="1335380"/>
                  </a:lnTo>
                  <a:lnTo>
                    <a:pt x="0" y="1335380"/>
                  </a:lnTo>
                  <a:close/>
                </a:path>
              </a:pathLst>
            </a:custGeom>
            <a:blipFill>
              <a:blip r:embed="rId5">
                <a:alphaModFix amt="0"/>
              </a:blip>
              <a:stretch>
                <a:fillRect t="-282403" b="-260864"/>
              </a:stretch>
            </a:blipFill>
          </p:spPr>
        </p:sp>
        <p:sp>
          <p:nvSpPr>
            <p:cNvPr id="9" name="TextBox 9"/>
            <p:cNvSpPr txBox="1"/>
            <p:nvPr/>
          </p:nvSpPr>
          <p:spPr>
            <a:xfrm>
              <a:off x="0" y="-38100"/>
              <a:ext cx="22042755" cy="137348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Meet the "Perceptron</a:t>
              </a:r>
            </a:p>
          </p:txBody>
        </p:sp>
      </p:grpSp>
      <p:sp>
        <p:nvSpPr>
          <p:cNvPr id="10" name="TextBox 10"/>
          <p:cNvSpPr txBox="1"/>
          <p:nvPr/>
        </p:nvSpPr>
        <p:spPr>
          <a:xfrm>
            <a:off x="2465308" y="4314111"/>
            <a:ext cx="7500938" cy="474669"/>
          </a:xfrm>
          <a:prstGeom prst="rect">
            <a:avLst/>
          </a:prstGeom>
        </p:spPr>
        <p:txBody>
          <a:bodyPr lIns="0" tIns="0" rIns="0" bIns="0" rtlCol="0" anchor="t">
            <a:spAutoFit/>
          </a:bodyPr>
          <a:lstStyle/>
          <a:p>
            <a:pPr algn="l">
              <a:lnSpc>
                <a:spcPts val="3375"/>
              </a:lnSpc>
            </a:pPr>
            <a:r>
              <a:rPr lang="en-US" sz="2250">
                <a:solidFill>
                  <a:srgbClr val="334155"/>
                </a:solidFill>
                <a:latin typeface="Fredoka"/>
                <a:ea typeface="Fredoka"/>
                <a:cs typeface="Fredoka"/>
                <a:sym typeface="Fredoka"/>
              </a:rPr>
              <a:t>.</a:t>
            </a:r>
          </a:p>
        </p:txBody>
      </p:sp>
      <p:sp>
        <p:nvSpPr>
          <p:cNvPr id="11" name="TextBox 11"/>
          <p:cNvSpPr txBox="1"/>
          <p:nvPr/>
        </p:nvSpPr>
        <p:spPr>
          <a:xfrm>
            <a:off x="1357312" y="6198394"/>
            <a:ext cx="7500938" cy="474669"/>
          </a:xfrm>
          <a:prstGeom prst="rect">
            <a:avLst/>
          </a:prstGeom>
        </p:spPr>
        <p:txBody>
          <a:bodyPr lIns="0" tIns="0" rIns="0" bIns="0" rtlCol="0" anchor="t">
            <a:spAutoFit/>
          </a:bodyPr>
          <a:lstStyle/>
          <a:p>
            <a:pPr algn="l">
              <a:lnSpc>
                <a:spcPts val="3375"/>
              </a:lnSpc>
            </a:pPr>
            <a:r>
              <a:rPr lang="en-US" sz="2250">
                <a:solidFill>
                  <a:srgbClr val="334155"/>
                </a:solidFill>
                <a:latin typeface="Fredoka"/>
                <a:ea typeface="Fredoka"/>
                <a:cs typeface="Fredoka"/>
                <a:sym typeface="Fredoka"/>
              </a:rPr>
              <a:t>.</a:t>
            </a:r>
          </a:p>
        </p:txBody>
      </p:sp>
      <p:sp>
        <p:nvSpPr>
          <p:cNvPr id="12" name="TextBox 12"/>
          <p:cNvSpPr txBox="1"/>
          <p:nvPr/>
        </p:nvSpPr>
        <p:spPr>
          <a:xfrm>
            <a:off x="480294" y="1570453"/>
            <a:ext cx="16349186" cy="2105025"/>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A </a:t>
            </a:r>
            <a:r>
              <a:rPr lang="en-US" sz="2700" b="1">
                <a:solidFill>
                  <a:srgbClr val="000000"/>
                </a:solidFill>
                <a:latin typeface="Calibri (MS) Bold"/>
                <a:ea typeface="Calibri (MS) Bold"/>
                <a:cs typeface="Calibri (MS) Bold"/>
                <a:sym typeface="Calibri (MS) Bold"/>
              </a:rPr>
              <a:t>perceptron</a:t>
            </a:r>
            <a:r>
              <a:rPr lang="en-US" sz="2700">
                <a:solidFill>
                  <a:srgbClr val="000000"/>
                </a:solidFill>
                <a:latin typeface="Calibri (MS)"/>
                <a:ea typeface="Calibri (MS)"/>
                <a:cs typeface="Calibri (MS)"/>
                <a:sym typeface="Calibri (MS)"/>
              </a:rPr>
              <a:t> is the simplest form of an artificial neuron and is considered the basic building block of a neural network. It receives input values, applies weights to them, adds a bias, and produces an output using an activation function.</a:t>
            </a:r>
          </a:p>
          <a:p>
            <a:pPr algn="l">
              <a:lnSpc>
                <a:spcPts val="3240"/>
              </a:lnSpc>
            </a:pPr>
            <a:r>
              <a:rPr lang="en-US" sz="2700">
                <a:solidFill>
                  <a:srgbClr val="000000"/>
                </a:solidFill>
                <a:latin typeface="Calibri (MS)"/>
                <a:ea typeface="Calibri (MS)"/>
                <a:cs typeface="Calibri (MS)"/>
                <a:sym typeface="Calibri (MS)"/>
              </a:rPr>
              <a:t>The result is then passed through an activation function to generate the final output.</a:t>
            </a:r>
          </a:p>
          <a:p>
            <a:pPr algn="l">
              <a:lnSpc>
                <a:spcPts val="3240"/>
              </a:lnSpc>
            </a:pPr>
            <a:endParaRPr lang="en-US" sz="2700">
              <a:solidFill>
                <a:srgbClr val="000000"/>
              </a:solidFill>
              <a:latin typeface="Calibri (MS)"/>
              <a:ea typeface="Calibri (MS)"/>
              <a:cs typeface="Calibri (MS)"/>
              <a:sym typeface="Calibri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65347" y="4688699"/>
            <a:ext cx="5305349" cy="5286375"/>
            <a:chOff x="0" y="0"/>
            <a:chExt cx="7073798" cy="7048500"/>
          </a:xfrm>
        </p:grpSpPr>
        <p:sp>
          <p:nvSpPr>
            <p:cNvPr id="5" name="Freeform 5" descr="image.png"/>
            <p:cNvSpPr/>
            <p:nvPr/>
          </p:nvSpPr>
          <p:spPr>
            <a:xfrm>
              <a:off x="0" y="0"/>
              <a:ext cx="7073773" cy="7048500"/>
            </a:xfrm>
            <a:custGeom>
              <a:avLst/>
              <a:gdLst/>
              <a:ahLst/>
              <a:cxnLst/>
              <a:rect l="l" t="t" r="r" b="b"/>
              <a:pathLst>
                <a:path w="7073773" h="7048500">
                  <a:moveTo>
                    <a:pt x="0" y="0"/>
                  </a:moveTo>
                  <a:lnTo>
                    <a:pt x="7073773" y="0"/>
                  </a:lnTo>
                  <a:lnTo>
                    <a:pt x="7073773" y="7048500"/>
                  </a:lnTo>
                  <a:lnTo>
                    <a:pt x="0" y="7048500"/>
                  </a:lnTo>
                  <a:lnTo>
                    <a:pt x="0" y="0"/>
                  </a:lnTo>
                  <a:close/>
                </a:path>
              </a:pathLst>
            </a:custGeom>
            <a:blipFill>
              <a:blip r:embed="rId3"/>
              <a:stretch>
                <a:fillRect l="-224" r="-224"/>
              </a:stretch>
            </a:blipFill>
          </p:spPr>
        </p:sp>
      </p:grpSp>
      <p:grpSp>
        <p:nvGrpSpPr>
          <p:cNvPr id="6" name="Group 6"/>
          <p:cNvGrpSpPr/>
          <p:nvPr/>
        </p:nvGrpSpPr>
        <p:grpSpPr>
          <a:xfrm>
            <a:off x="6402404" y="4688699"/>
            <a:ext cx="5305349" cy="5286375"/>
            <a:chOff x="0" y="0"/>
            <a:chExt cx="7073798" cy="7048500"/>
          </a:xfrm>
        </p:grpSpPr>
        <p:sp>
          <p:nvSpPr>
            <p:cNvPr id="7" name="Freeform 7" descr="image.png"/>
            <p:cNvSpPr/>
            <p:nvPr/>
          </p:nvSpPr>
          <p:spPr>
            <a:xfrm>
              <a:off x="0" y="0"/>
              <a:ext cx="7073773" cy="7048500"/>
            </a:xfrm>
            <a:custGeom>
              <a:avLst/>
              <a:gdLst/>
              <a:ahLst/>
              <a:cxnLst/>
              <a:rect l="l" t="t" r="r" b="b"/>
              <a:pathLst>
                <a:path w="7073773" h="7048500">
                  <a:moveTo>
                    <a:pt x="0" y="0"/>
                  </a:moveTo>
                  <a:lnTo>
                    <a:pt x="7073773" y="0"/>
                  </a:lnTo>
                  <a:lnTo>
                    <a:pt x="7073773" y="7048500"/>
                  </a:lnTo>
                  <a:lnTo>
                    <a:pt x="0" y="7048500"/>
                  </a:lnTo>
                  <a:lnTo>
                    <a:pt x="0" y="0"/>
                  </a:lnTo>
                  <a:close/>
                </a:path>
              </a:pathLst>
            </a:custGeom>
            <a:blipFill>
              <a:blip r:embed="rId4"/>
              <a:stretch>
                <a:fillRect l="-224" r="-224"/>
              </a:stretch>
            </a:blipFill>
          </p:spPr>
        </p:sp>
      </p:grpSp>
      <p:grpSp>
        <p:nvGrpSpPr>
          <p:cNvPr id="8" name="Group 8"/>
          <p:cNvGrpSpPr/>
          <p:nvPr/>
        </p:nvGrpSpPr>
        <p:grpSpPr>
          <a:xfrm>
            <a:off x="12136377" y="4688699"/>
            <a:ext cx="5305349" cy="5286375"/>
            <a:chOff x="0" y="0"/>
            <a:chExt cx="7073798" cy="7048500"/>
          </a:xfrm>
        </p:grpSpPr>
        <p:sp>
          <p:nvSpPr>
            <p:cNvPr id="9" name="Freeform 9" descr="image.png"/>
            <p:cNvSpPr/>
            <p:nvPr/>
          </p:nvSpPr>
          <p:spPr>
            <a:xfrm>
              <a:off x="0" y="0"/>
              <a:ext cx="7073773" cy="7048500"/>
            </a:xfrm>
            <a:custGeom>
              <a:avLst/>
              <a:gdLst/>
              <a:ahLst/>
              <a:cxnLst/>
              <a:rect l="l" t="t" r="r" b="b"/>
              <a:pathLst>
                <a:path w="7073773" h="7048500">
                  <a:moveTo>
                    <a:pt x="0" y="0"/>
                  </a:moveTo>
                  <a:lnTo>
                    <a:pt x="7073773" y="0"/>
                  </a:lnTo>
                  <a:lnTo>
                    <a:pt x="7073773" y="7048500"/>
                  </a:lnTo>
                  <a:lnTo>
                    <a:pt x="0" y="7048500"/>
                  </a:lnTo>
                  <a:lnTo>
                    <a:pt x="0" y="0"/>
                  </a:lnTo>
                  <a:close/>
                </a:path>
              </a:pathLst>
            </a:custGeom>
            <a:blipFill>
              <a:blip r:embed="rId5"/>
              <a:stretch>
                <a:fillRect l="-224" r="-224"/>
              </a:stretch>
            </a:blipFill>
          </p:spPr>
        </p:sp>
      </p:grpSp>
      <p:grpSp>
        <p:nvGrpSpPr>
          <p:cNvPr id="10" name="Group 10"/>
          <p:cNvGrpSpPr/>
          <p:nvPr/>
        </p:nvGrpSpPr>
        <p:grpSpPr>
          <a:xfrm>
            <a:off x="842962" y="835819"/>
            <a:ext cx="585788" cy="514350"/>
            <a:chOff x="0" y="0"/>
            <a:chExt cx="781050" cy="685800"/>
          </a:xfrm>
        </p:grpSpPr>
        <p:sp>
          <p:nvSpPr>
            <p:cNvPr id="11" name="Freeform 11" descr="image.png"/>
            <p:cNvSpPr/>
            <p:nvPr/>
          </p:nvSpPr>
          <p:spPr>
            <a:xfrm>
              <a:off x="0" y="0"/>
              <a:ext cx="781050" cy="685800"/>
            </a:xfrm>
            <a:custGeom>
              <a:avLst/>
              <a:gdLst/>
              <a:ahLst/>
              <a:cxnLst/>
              <a:rect l="l" t="t" r="r" b="b"/>
              <a:pathLst>
                <a:path w="781050" h="685800">
                  <a:moveTo>
                    <a:pt x="0" y="0"/>
                  </a:moveTo>
                  <a:lnTo>
                    <a:pt x="781050" y="0"/>
                  </a:lnTo>
                  <a:lnTo>
                    <a:pt x="781050" y="685800"/>
                  </a:lnTo>
                  <a:lnTo>
                    <a:pt x="0" y="685800"/>
                  </a:lnTo>
                  <a:lnTo>
                    <a:pt x="0" y="0"/>
                  </a:lnTo>
                  <a:close/>
                </a:path>
              </a:pathLst>
            </a:custGeom>
            <a:blipFill>
              <a:blip r:embed="rId6"/>
              <a:stretch>
                <a:fillRect t="-1388" b="-1388"/>
              </a:stretch>
            </a:blipFill>
          </p:spPr>
        </p:sp>
      </p:grpSp>
      <p:grpSp>
        <p:nvGrpSpPr>
          <p:cNvPr id="12" name="Group 12"/>
          <p:cNvGrpSpPr/>
          <p:nvPr/>
        </p:nvGrpSpPr>
        <p:grpSpPr>
          <a:xfrm>
            <a:off x="1685925" y="592226"/>
            <a:ext cx="10496398" cy="1001535"/>
            <a:chOff x="0" y="0"/>
            <a:chExt cx="13995197" cy="1335380"/>
          </a:xfrm>
        </p:grpSpPr>
        <p:sp>
          <p:nvSpPr>
            <p:cNvPr id="13" name="Freeform 13"/>
            <p:cNvSpPr/>
            <p:nvPr/>
          </p:nvSpPr>
          <p:spPr>
            <a:xfrm>
              <a:off x="0" y="0"/>
              <a:ext cx="13995197" cy="1335375"/>
            </a:xfrm>
            <a:custGeom>
              <a:avLst/>
              <a:gdLst/>
              <a:ahLst/>
              <a:cxnLst/>
              <a:rect l="l" t="t" r="r" b="b"/>
              <a:pathLst>
                <a:path w="13995197" h="1335375">
                  <a:moveTo>
                    <a:pt x="0" y="0"/>
                  </a:moveTo>
                  <a:lnTo>
                    <a:pt x="13995197" y="0"/>
                  </a:lnTo>
                  <a:lnTo>
                    <a:pt x="13995197" y="1335375"/>
                  </a:lnTo>
                  <a:lnTo>
                    <a:pt x="0" y="1335375"/>
                  </a:lnTo>
                  <a:close/>
                </a:path>
              </a:pathLst>
            </a:custGeom>
            <a:blipFill>
              <a:blip r:embed="rId7">
                <a:alphaModFix amt="0"/>
              </a:blip>
              <a:stretch>
                <a:fillRect t="-291688" r="-58073" b="-253917"/>
              </a:stretch>
            </a:blipFill>
          </p:spPr>
        </p:sp>
        <p:sp>
          <p:nvSpPr>
            <p:cNvPr id="14" name="TextBox 14"/>
            <p:cNvSpPr txBox="1"/>
            <p:nvPr/>
          </p:nvSpPr>
          <p:spPr>
            <a:xfrm>
              <a:off x="0" y="-38100"/>
              <a:ext cx="13995197" cy="137348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Single Layer Perceptron: </a:t>
              </a:r>
            </a:p>
          </p:txBody>
        </p:sp>
      </p:grpSp>
      <p:sp>
        <p:nvSpPr>
          <p:cNvPr id="15" name="TextBox 15"/>
          <p:cNvSpPr txBox="1"/>
          <p:nvPr/>
        </p:nvSpPr>
        <p:spPr>
          <a:xfrm>
            <a:off x="668430" y="4845367"/>
            <a:ext cx="5305349" cy="510541"/>
          </a:xfrm>
          <a:prstGeom prst="rect">
            <a:avLst/>
          </a:prstGeom>
        </p:spPr>
        <p:txBody>
          <a:bodyPr lIns="0" tIns="0" rIns="0" bIns="0" rtlCol="0" anchor="t">
            <a:spAutoFit/>
          </a:bodyPr>
          <a:lstStyle/>
          <a:p>
            <a:pPr algn="ctr">
              <a:lnSpc>
                <a:spcPts val="4274"/>
              </a:lnSpc>
              <a:spcBef>
                <a:spcPct val="0"/>
              </a:spcBef>
            </a:pPr>
            <a:r>
              <a:rPr lang="en-US" sz="2849">
                <a:solidFill>
                  <a:srgbClr val="2563EB"/>
                </a:solidFill>
                <a:latin typeface="Fredoka"/>
                <a:ea typeface="Fredoka"/>
                <a:cs typeface="Fredoka"/>
                <a:sym typeface="Fredoka"/>
              </a:rPr>
              <a:t>Linearly Separable Gates</a:t>
            </a:r>
          </a:p>
        </p:txBody>
      </p:sp>
      <p:sp>
        <p:nvSpPr>
          <p:cNvPr id="16" name="TextBox 16"/>
          <p:cNvSpPr txBox="1"/>
          <p:nvPr/>
        </p:nvSpPr>
        <p:spPr>
          <a:xfrm>
            <a:off x="668430" y="5470684"/>
            <a:ext cx="5305349" cy="4853940"/>
          </a:xfrm>
          <a:prstGeom prst="rect">
            <a:avLst/>
          </a:prstGeom>
        </p:spPr>
        <p:txBody>
          <a:bodyPr lIns="0" tIns="0" rIns="0" bIns="0" rtlCol="0" anchor="t">
            <a:spAutoFit/>
          </a:bodyPr>
          <a:lstStyle/>
          <a:p>
            <a:pPr algn="l">
              <a:lnSpc>
                <a:spcPts val="3674"/>
              </a:lnSpc>
            </a:pPr>
            <a:r>
              <a:rPr lang="en-US" sz="2449" b="1">
                <a:solidFill>
                  <a:srgbClr val="334155"/>
                </a:solidFill>
                <a:latin typeface="Calibri (MS) Bold"/>
                <a:ea typeface="Calibri (MS) Bold"/>
                <a:cs typeface="Calibri (MS) Bold"/>
                <a:sym typeface="Calibri (MS) Bold"/>
              </a:rPr>
              <a:t>AND Gate:</a:t>
            </a:r>
          </a:p>
          <a:p>
            <a:pPr marL="507364" lvl="1" indent="-253682" algn="l">
              <a:lnSpc>
                <a:spcPts val="3524"/>
              </a:lnSpc>
              <a:buFont typeface="Arial"/>
              <a:buChar char="•"/>
            </a:pPr>
            <a:r>
              <a:rPr lang="en-US" sz="2349">
                <a:solidFill>
                  <a:srgbClr val="000000"/>
                </a:solidFill>
                <a:latin typeface="Calibri (MS)"/>
                <a:ea typeface="Calibri (MS)"/>
                <a:cs typeface="Calibri (MS)"/>
                <a:sym typeface="Calibri (MS)"/>
              </a:rPr>
              <a:t>Rule: Output 1 only when both inputs are 1</a:t>
            </a:r>
          </a:p>
          <a:p>
            <a:pPr marL="507364" lvl="1" indent="-253682" algn="l">
              <a:lnSpc>
                <a:spcPts val="3524"/>
              </a:lnSpc>
              <a:buFont typeface="Arial"/>
              <a:buChar char="•"/>
            </a:pPr>
            <a:r>
              <a:rPr lang="en-US" sz="2349">
                <a:solidFill>
                  <a:srgbClr val="000000"/>
                </a:solidFill>
                <a:latin typeface="Calibri (MS)"/>
                <a:ea typeface="Calibri (MS)"/>
                <a:cs typeface="Calibri (MS)"/>
                <a:sym typeface="Calibri (MS)"/>
              </a:rPr>
              <a:t>Linear Line: x_1 + x_2 = 1.5 (or weights w_1=1, w_2=1, b=-1.5).</a:t>
            </a:r>
          </a:p>
          <a:p>
            <a:pPr marL="507364" lvl="1" indent="-253682" algn="l">
              <a:lnSpc>
                <a:spcPts val="3524"/>
              </a:lnSpc>
              <a:buFont typeface="Arial"/>
              <a:buChar char="•"/>
            </a:pPr>
            <a:r>
              <a:rPr lang="en-US" sz="2349">
                <a:solidFill>
                  <a:srgbClr val="000000"/>
                </a:solidFill>
                <a:latin typeface="Calibri (MS)"/>
                <a:ea typeface="Calibri (MS)"/>
                <a:cs typeface="Calibri (MS)"/>
                <a:sym typeface="Calibri (MS)"/>
              </a:rPr>
              <a:t>Points: </a:t>
            </a:r>
          </a:p>
          <a:p>
            <a:pPr algn="l">
              <a:lnSpc>
                <a:spcPts val="3524"/>
              </a:lnSpc>
            </a:pPr>
            <a:r>
              <a:rPr lang="en-US" sz="2349">
                <a:solidFill>
                  <a:srgbClr val="000000"/>
                </a:solidFill>
                <a:latin typeface="Calibri (MS)"/>
                <a:ea typeface="Calibri (MS)"/>
                <a:cs typeface="Calibri (MS)"/>
                <a:sym typeface="Calibri (MS)"/>
              </a:rPr>
              <a:t>               (0 ,0)  --&gt; 0</a:t>
            </a:r>
          </a:p>
          <a:p>
            <a:pPr algn="l">
              <a:lnSpc>
                <a:spcPts val="3524"/>
              </a:lnSpc>
            </a:pPr>
            <a:r>
              <a:rPr lang="en-US" sz="2349">
                <a:solidFill>
                  <a:srgbClr val="000000"/>
                </a:solidFill>
                <a:latin typeface="Calibri (MS)"/>
                <a:ea typeface="Calibri (MS)"/>
                <a:cs typeface="Calibri (MS)"/>
                <a:sym typeface="Calibri (MS)"/>
              </a:rPr>
              <a:t>               (0,1)  --&gt; 0</a:t>
            </a:r>
          </a:p>
          <a:p>
            <a:pPr algn="l">
              <a:lnSpc>
                <a:spcPts val="3524"/>
              </a:lnSpc>
            </a:pPr>
            <a:r>
              <a:rPr lang="en-US" sz="2349">
                <a:solidFill>
                  <a:srgbClr val="000000"/>
                </a:solidFill>
                <a:latin typeface="Calibri (MS)"/>
                <a:ea typeface="Calibri (MS)"/>
                <a:cs typeface="Calibri (MS)"/>
                <a:sym typeface="Calibri (MS)"/>
              </a:rPr>
              <a:t>               (1,0)   --&gt;0</a:t>
            </a:r>
          </a:p>
          <a:p>
            <a:pPr algn="l">
              <a:lnSpc>
                <a:spcPts val="3524"/>
              </a:lnSpc>
            </a:pPr>
            <a:r>
              <a:rPr lang="en-US" sz="2349">
                <a:solidFill>
                  <a:srgbClr val="000000"/>
                </a:solidFill>
                <a:latin typeface="Calibri (MS)"/>
                <a:ea typeface="Calibri (MS)"/>
                <a:cs typeface="Calibri (MS)"/>
                <a:sym typeface="Calibri (MS)"/>
              </a:rPr>
              <a:t>               (1,1)   --&gt;1</a:t>
            </a:r>
          </a:p>
          <a:p>
            <a:pPr algn="ctr">
              <a:lnSpc>
                <a:spcPts val="3375"/>
              </a:lnSpc>
              <a:spcBef>
                <a:spcPct val="0"/>
              </a:spcBef>
            </a:pPr>
            <a:endParaRPr lang="en-US" sz="2349">
              <a:solidFill>
                <a:srgbClr val="000000"/>
              </a:solidFill>
              <a:latin typeface="Calibri (MS)"/>
              <a:ea typeface="Calibri (MS)"/>
              <a:cs typeface="Calibri (MS)"/>
              <a:sym typeface="Calibri (MS)"/>
            </a:endParaRPr>
          </a:p>
        </p:txBody>
      </p:sp>
      <p:sp>
        <p:nvSpPr>
          <p:cNvPr id="17" name="TextBox 17"/>
          <p:cNvSpPr txBox="1"/>
          <p:nvPr/>
        </p:nvSpPr>
        <p:spPr>
          <a:xfrm>
            <a:off x="6491326" y="4845367"/>
            <a:ext cx="5305349" cy="510541"/>
          </a:xfrm>
          <a:prstGeom prst="rect">
            <a:avLst/>
          </a:prstGeom>
        </p:spPr>
        <p:txBody>
          <a:bodyPr lIns="0" tIns="0" rIns="0" bIns="0" rtlCol="0" anchor="t">
            <a:spAutoFit/>
          </a:bodyPr>
          <a:lstStyle/>
          <a:p>
            <a:pPr algn="ctr">
              <a:lnSpc>
                <a:spcPts val="4274"/>
              </a:lnSpc>
              <a:spcBef>
                <a:spcPct val="0"/>
              </a:spcBef>
            </a:pPr>
            <a:r>
              <a:rPr lang="en-US" sz="2849">
                <a:solidFill>
                  <a:srgbClr val="2563EB"/>
                </a:solidFill>
                <a:latin typeface="Fredoka"/>
                <a:ea typeface="Fredoka"/>
                <a:cs typeface="Fredoka"/>
                <a:sym typeface="Fredoka"/>
              </a:rPr>
              <a:t>Linearly Separable Gates</a:t>
            </a:r>
          </a:p>
        </p:txBody>
      </p:sp>
      <p:sp>
        <p:nvSpPr>
          <p:cNvPr id="18" name="TextBox 18"/>
          <p:cNvSpPr txBox="1"/>
          <p:nvPr/>
        </p:nvSpPr>
        <p:spPr>
          <a:xfrm>
            <a:off x="6402404" y="5470684"/>
            <a:ext cx="4897525" cy="4592955"/>
          </a:xfrm>
          <a:prstGeom prst="rect">
            <a:avLst/>
          </a:prstGeom>
        </p:spPr>
        <p:txBody>
          <a:bodyPr lIns="0" tIns="0" rIns="0" bIns="0" rtlCol="0" anchor="t">
            <a:spAutoFit/>
          </a:bodyPr>
          <a:lstStyle/>
          <a:p>
            <a:pPr algn="l">
              <a:lnSpc>
                <a:spcPts val="3674"/>
              </a:lnSpc>
            </a:pPr>
            <a:r>
              <a:rPr lang="en-US" sz="2449" b="1">
                <a:solidFill>
                  <a:srgbClr val="334155"/>
                </a:solidFill>
                <a:latin typeface="Calibri (MS) Bold"/>
                <a:ea typeface="Calibri (MS) Bold"/>
                <a:cs typeface="Calibri (MS) Bold"/>
                <a:sym typeface="Calibri (MS) Bold"/>
              </a:rPr>
              <a:t>OR Gate</a:t>
            </a:r>
            <a:r>
              <a:rPr lang="en-US" sz="2449">
                <a:solidFill>
                  <a:srgbClr val="334155"/>
                </a:solidFill>
                <a:latin typeface="Calibri (MS)"/>
                <a:ea typeface="Calibri (MS)"/>
                <a:cs typeface="Calibri (MS)"/>
                <a:sym typeface="Calibri (MS)"/>
              </a:rPr>
              <a:t>:</a:t>
            </a:r>
          </a:p>
          <a:p>
            <a:pPr marL="528954" lvl="1" indent="-264477" algn="l">
              <a:lnSpc>
                <a:spcPts val="3674"/>
              </a:lnSpc>
              <a:buFont typeface="Arial"/>
              <a:buChar char="•"/>
            </a:pPr>
            <a:r>
              <a:rPr lang="en-US" sz="2449">
                <a:solidFill>
                  <a:srgbClr val="000000"/>
                </a:solidFill>
                <a:latin typeface="Calibri (MS)"/>
                <a:ea typeface="Calibri (MS)"/>
                <a:cs typeface="Calibri (MS)"/>
                <a:sym typeface="Calibri (MS)"/>
              </a:rPr>
              <a:t>Rule: Output 1 if at least one input is 1.</a:t>
            </a:r>
          </a:p>
          <a:p>
            <a:pPr marL="528954" lvl="1" indent="-264477" algn="l">
              <a:lnSpc>
                <a:spcPts val="3674"/>
              </a:lnSpc>
              <a:spcBef>
                <a:spcPct val="0"/>
              </a:spcBef>
              <a:buFont typeface="Arial"/>
              <a:buChar char="•"/>
            </a:pPr>
            <a:r>
              <a:rPr lang="en-US" sz="2449">
                <a:solidFill>
                  <a:srgbClr val="000000"/>
                </a:solidFill>
                <a:latin typeface="Calibri (MS)"/>
                <a:ea typeface="Calibri (MS)"/>
                <a:cs typeface="Calibri (MS)"/>
                <a:sym typeface="Calibri (MS)"/>
              </a:rPr>
              <a:t>Linear Line: x_1 + x_2 = 0.5 (or weights w_1=1, w_2=1, b=-0.5).</a:t>
            </a:r>
          </a:p>
          <a:p>
            <a:pPr marL="528954" lvl="1" indent="-264477" algn="l">
              <a:lnSpc>
                <a:spcPts val="3674"/>
              </a:lnSpc>
              <a:spcBef>
                <a:spcPct val="0"/>
              </a:spcBef>
              <a:buFont typeface="Arial"/>
              <a:buChar char="•"/>
            </a:pPr>
            <a:r>
              <a:rPr lang="en-US" sz="2449">
                <a:solidFill>
                  <a:srgbClr val="000000"/>
                </a:solidFill>
                <a:latin typeface="Calibri (MS)"/>
                <a:ea typeface="Calibri (MS)"/>
                <a:cs typeface="Calibri (MS)"/>
                <a:sym typeface="Calibri (MS)"/>
              </a:rPr>
              <a:t>Points: (0,0)--&gt; 0</a:t>
            </a:r>
          </a:p>
          <a:p>
            <a:pPr algn="l">
              <a:lnSpc>
                <a:spcPts val="3674"/>
              </a:lnSpc>
              <a:spcBef>
                <a:spcPct val="0"/>
              </a:spcBef>
            </a:pPr>
            <a:r>
              <a:rPr lang="en-US" sz="2449">
                <a:solidFill>
                  <a:srgbClr val="000000"/>
                </a:solidFill>
                <a:latin typeface="Calibri (MS)"/>
                <a:ea typeface="Calibri (MS)"/>
                <a:cs typeface="Calibri (MS)"/>
                <a:sym typeface="Calibri (MS)"/>
              </a:rPr>
              <a:t>                     (0,1)--&gt;1</a:t>
            </a:r>
          </a:p>
          <a:p>
            <a:pPr algn="l">
              <a:lnSpc>
                <a:spcPts val="3674"/>
              </a:lnSpc>
              <a:spcBef>
                <a:spcPct val="0"/>
              </a:spcBef>
            </a:pPr>
            <a:r>
              <a:rPr lang="en-US" sz="2449">
                <a:solidFill>
                  <a:srgbClr val="000000"/>
                </a:solidFill>
                <a:latin typeface="Calibri (MS)"/>
                <a:ea typeface="Calibri (MS)"/>
                <a:cs typeface="Calibri (MS)"/>
                <a:sym typeface="Calibri (MS)"/>
              </a:rPr>
              <a:t>                     (1,0)--&gt;1 </a:t>
            </a:r>
          </a:p>
          <a:p>
            <a:pPr algn="l">
              <a:lnSpc>
                <a:spcPts val="3674"/>
              </a:lnSpc>
              <a:spcBef>
                <a:spcPct val="0"/>
              </a:spcBef>
            </a:pPr>
            <a:r>
              <a:rPr lang="en-US" sz="2449">
                <a:solidFill>
                  <a:srgbClr val="000000"/>
                </a:solidFill>
                <a:latin typeface="Calibri (MS)"/>
                <a:ea typeface="Calibri (MS)"/>
                <a:cs typeface="Calibri (MS)"/>
                <a:sym typeface="Calibri (MS)"/>
              </a:rPr>
              <a:t>                     (1,1)--&gt; 1.</a:t>
            </a:r>
          </a:p>
          <a:p>
            <a:pPr algn="ctr">
              <a:lnSpc>
                <a:spcPts val="3674"/>
              </a:lnSpc>
              <a:spcBef>
                <a:spcPct val="0"/>
              </a:spcBef>
            </a:pPr>
            <a:endParaRPr lang="en-US" sz="2449">
              <a:solidFill>
                <a:srgbClr val="000000"/>
              </a:solidFill>
              <a:latin typeface="Calibri (MS)"/>
              <a:ea typeface="Calibri (MS)"/>
              <a:cs typeface="Calibri (MS)"/>
              <a:sym typeface="Calibri (MS)"/>
            </a:endParaRPr>
          </a:p>
        </p:txBody>
      </p:sp>
      <p:sp>
        <p:nvSpPr>
          <p:cNvPr id="19" name="TextBox 19"/>
          <p:cNvSpPr txBox="1"/>
          <p:nvPr/>
        </p:nvSpPr>
        <p:spPr>
          <a:xfrm>
            <a:off x="12783087" y="4814887"/>
            <a:ext cx="4011930" cy="541021"/>
          </a:xfrm>
          <a:prstGeom prst="rect">
            <a:avLst/>
          </a:prstGeom>
        </p:spPr>
        <p:txBody>
          <a:bodyPr lIns="0" tIns="0" rIns="0" bIns="0" rtlCol="0" anchor="t">
            <a:spAutoFit/>
          </a:bodyPr>
          <a:lstStyle/>
          <a:p>
            <a:pPr algn="ctr">
              <a:lnSpc>
                <a:spcPts val="4574"/>
              </a:lnSpc>
              <a:spcBef>
                <a:spcPct val="0"/>
              </a:spcBef>
            </a:pPr>
            <a:r>
              <a:rPr lang="en-US" sz="3049">
                <a:solidFill>
                  <a:srgbClr val="2563EB"/>
                </a:solidFill>
                <a:latin typeface="Fredoka"/>
                <a:ea typeface="Fredoka"/>
                <a:cs typeface="Fredoka"/>
                <a:sym typeface="Fredoka"/>
              </a:rPr>
              <a:t>Non-Linear XOR Gate</a:t>
            </a:r>
          </a:p>
        </p:txBody>
      </p:sp>
      <p:sp>
        <p:nvSpPr>
          <p:cNvPr id="20" name="TextBox 20"/>
          <p:cNvSpPr txBox="1"/>
          <p:nvPr/>
        </p:nvSpPr>
        <p:spPr>
          <a:xfrm>
            <a:off x="12175017" y="5470684"/>
            <a:ext cx="5305349" cy="4592955"/>
          </a:xfrm>
          <a:prstGeom prst="rect">
            <a:avLst/>
          </a:prstGeom>
        </p:spPr>
        <p:txBody>
          <a:bodyPr lIns="0" tIns="0" rIns="0" bIns="0" rtlCol="0" anchor="t">
            <a:spAutoFit/>
          </a:bodyPr>
          <a:lstStyle/>
          <a:p>
            <a:pPr marL="528954" lvl="1" indent="-264477" algn="l">
              <a:lnSpc>
                <a:spcPts val="3674"/>
              </a:lnSpc>
              <a:spcBef>
                <a:spcPct val="0"/>
              </a:spcBef>
              <a:buFont typeface="Arial"/>
              <a:buChar char="•"/>
            </a:pPr>
            <a:r>
              <a:rPr lang="en-US" sz="2449">
                <a:solidFill>
                  <a:srgbClr val="000000"/>
                </a:solidFill>
                <a:latin typeface="Calibri (MS)"/>
                <a:ea typeface="Calibri (MS)"/>
                <a:cs typeface="Calibri (MS)"/>
                <a:sym typeface="Calibri (MS)"/>
              </a:rPr>
              <a:t>Rule: Output 1 when inputs are different; output 0 when inputs are same.</a:t>
            </a:r>
          </a:p>
          <a:p>
            <a:pPr marL="528954" lvl="1" indent="-264477" algn="l">
              <a:lnSpc>
                <a:spcPts val="3674"/>
              </a:lnSpc>
              <a:spcBef>
                <a:spcPct val="0"/>
              </a:spcBef>
              <a:buFont typeface="Arial"/>
              <a:buChar char="•"/>
            </a:pPr>
            <a:r>
              <a:rPr lang="en-US" sz="2449">
                <a:solidFill>
                  <a:srgbClr val="000000"/>
                </a:solidFill>
                <a:latin typeface="Calibri (MS)"/>
                <a:ea typeface="Calibri (MS)"/>
                <a:cs typeface="Calibri (MS)"/>
                <a:sym typeface="Calibri (MS)"/>
              </a:rPr>
              <a:t>Points: (0,0)--&gt; 0, (1,1)--&gt; 0, (0,1)--&gt; 1, (1,0)--&gt;1.</a:t>
            </a:r>
          </a:p>
          <a:p>
            <a:pPr marL="528954" lvl="1" indent="-264477" algn="l">
              <a:lnSpc>
                <a:spcPts val="3674"/>
              </a:lnSpc>
              <a:spcBef>
                <a:spcPct val="0"/>
              </a:spcBef>
              <a:buFont typeface="Arial"/>
              <a:buChar char="•"/>
            </a:pPr>
            <a:r>
              <a:rPr lang="en-US" sz="2449">
                <a:solidFill>
                  <a:srgbClr val="000000"/>
                </a:solidFill>
                <a:latin typeface="Calibri (MS)"/>
                <a:ea typeface="Calibri (MS)"/>
                <a:cs typeface="Calibri (MS)"/>
                <a:sym typeface="Calibri (MS)"/>
              </a:rPr>
              <a:t>The Problem: The 1's sit diagonally opposite each other across from the 0's. No single straight line can split two diagonal pairs.</a:t>
            </a:r>
          </a:p>
          <a:p>
            <a:pPr algn="ctr">
              <a:lnSpc>
                <a:spcPts val="3674"/>
              </a:lnSpc>
              <a:spcBef>
                <a:spcPct val="0"/>
              </a:spcBef>
            </a:pPr>
            <a:endParaRPr lang="en-US" sz="2449">
              <a:solidFill>
                <a:srgbClr val="000000"/>
              </a:solidFill>
              <a:latin typeface="Calibri (MS)"/>
              <a:ea typeface="Calibri (MS)"/>
              <a:cs typeface="Calibri (MS)"/>
              <a:sym typeface="Calibri (MS)"/>
            </a:endParaRPr>
          </a:p>
        </p:txBody>
      </p:sp>
      <p:sp>
        <p:nvSpPr>
          <p:cNvPr id="21" name="TextBox 21"/>
          <p:cNvSpPr txBox="1"/>
          <p:nvPr/>
        </p:nvSpPr>
        <p:spPr>
          <a:xfrm>
            <a:off x="842963" y="1641623"/>
            <a:ext cx="13155451" cy="2196166"/>
          </a:xfrm>
          <a:prstGeom prst="rect">
            <a:avLst/>
          </a:prstGeom>
        </p:spPr>
        <p:txBody>
          <a:bodyPr lIns="0" tIns="0" rIns="0" bIns="0" rtlCol="0" anchor="t">
            <a:spAutoFit/>
          </a:bodyPr>
          <a:lstStyle/>
          <a:p>
            <a:pPr algn="l">
              <a:lnSpc>
                <a:spcPts val="4286"/>
              </a:lnSpc>
              <a:spcBef>
                <a:spcPct val="0"/>
              </a:spcBef>
            </a:pPr>
            <a:r>
              <a:rPr lang="en-US" sz="2857" b="1">
                <a:solidFill>
                  <a:srgbClr val="334155"/>
                </a:solidFill>
                <a:latin typeface="Calibri (MS) Bold"/>
                <a:ea typeface="Calibri (MS) Bold"/>
                <a:cs typeface="Calibri (MS) Bold"/>
                <a:sym typeface="Calibri (MS) Bold"/>
              </a:rPr>
              <a:t>It consist of the input layer which receives raw features from the dataset and output layer consist of one or more perceptron neurons connected directly to input layer.Their are no hidden layers in between ,input signal flow straight into output neuron in single direct step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310827" y="3423215"/>
            <a:ext cx="9144000" cy="6164471"/>
          </a:xfrm>
          <a:custGeom>
            <a:avLst/>
            <a:gdLst/>
            <a:ahLst/>
            <a:cxnLst/>
            <a:rect l="l" t="t" r="r" b="b"/>
            <a:pathLst>
              <a:path w="9144000" h="6164471">
                <a:moveTo>
                  <a:pt x="0" y="0"/>
                </a:moveTo>
                <a:lnTo>
                  <a:pt x="9144000" y="0"/>
                </a:lnTo>
                <a:lnTo>
                  <a:pt x="9144000" y="6164471"/>
                </a:lnTo>
                <a:lnTo>
                  <a:pt x="0" y="6164471"/>
                </a:lnTo>
                <a:lnTo>
                  <a:pt x="0" y="0"/>
                </a:lnTo>
                <a:close/>
              </a:path>
            </a:pathLst>
          </a:custGeom>
          <a:blipFill>
            <a:blip r:embed="rId3"/>
            <a:stretch>
              <a:fillRect r="-1220"/>
            </a:stretch>
          </a:blipFill>
        </p:spPr>
      </p:sp>
      <p:sp>
        <p:nvSpPr>
          <p:cNvPr id="4" name="Freeform 4"/>
          <p:cNvSpPr/>
          <p:nvPr/>
        </p:nvSpPr>
        <p:spPr>
          <a:xfrm>
            <a:off x="10596035" y="3317343"/>
            <a:ext cx="5758090" cy="6594626"/>
          </a:xfrm>
          <a:custGeom>
            <a:avLst/>
            <a:gdLst/>
            <a:ahLst/>
            <a:cxnLst/>
            <a:rect l="l" t="t" r="r" b="b"/>
            <a:pathLst>
              <a:path w="5758090" h="6594626">
                <a:moveTo>
                  <a:pt x="0" y="0"/>
                </a:moveTo>
                <a:lnTo>
                  <a:pt x="5758090" y="0"/>
                </a:lnTo>
                <a:lnTo>
                  <a:pt x="5758090" y="6594625"/>
                </a:lnTo>
                <a:lnTo>
                  <a:pt x="0" y="6594625"/>
                </a:lnTo>
                <a:lnTo>
                  <a:pt x="0" y="0"/>
                </a:lnTo>
                <a:close/>
              </a:path>
            </a:pathLst>
          </a:custGeom>
          <a:blipFill>
            <a:blip r:embed="rId4"/>
            <a:stretch>
              <a:fillRect t="-1386" b="-1386"/>
            </a:stretch>
          </a:blipFill>
        </p:spPr>
      </p:sp>
      <p:sp>
        <p:nvSpPr>
          <p:cNvPr id="5" name="TextBox 5"/>
          <p:cNvSpPr txBox="1"/>
          <p:nvPr/>
        </p:nvSpPr>
        <p:spPr>
          <a:xfrm>
            <a:off x="-960334" y="268603"/>
            <a:ext cx="10104334" cy="760097"/>
          </a:xfrm>
          <a:prstGeom prst="rect">
            <a:avLst/>
          </a:prstGeom>
        </p:spPr>
        <p:txBody>
          <a:bodyPr lIns="0" tIns="0" rIns="0" bIns="0" rtlCol="0" anchor="t">
            <a:spAutoFit/>
          </a:bodyPr>
          <a:lstStyle/>
          <a:p>
            <a:pPr algn="ctr">
              <a:lnSpc>
                <a:spcPts val="6074"/>
              </a:lnSpc>
              <a:spcBef>
                <a:spcPct val="0"/>
              </a:spcBef>
            </a:pPr>
            <a:r>
              <a:rPr lang="en-US" sz="4049" b="1">
                <a:solidFill>
                  <a:srgbClr val="1E3A8A"/>
                </a:solidFill>
                <a:latin typeface="Poppins Bold"/>
                <a:ea typeface="Poppins Bold"/>
                <a:cs typeface="Poppins Bold"/>
                <a:sym typeface="Poppins Bold"/>
              </a:rPr>
              <a:t>Perceptron Learning Rule:</a:t>
            </a:r>
          </a:p>
        </p:txBody>
      </p:sp>
      <p:sp>
        <p:nvSpPr>
          <p:cNvPr id="6" name="TextBox 6"/>
          <p:cNvSpPr txBox="1"/>
          <p:nvPr/>
        </p:nvSpPr>
        <p:spPr>
          <a:xfrm>
            <a:off x="653956" y="1222939"/>
            <a:ext cx="10363915" cy="1857376"/>
          </a:xfrm>
          <a:prstGeom prst="rect">
            <a:avLst/>
          </a:prstGeom>
        </p:spPr>
        <p:txBody>
          <a:bodyPr lIns="0" tIns="0" rIns="0" bIns="0" rtlCol="0" anchor="t">
            <a:spAutoFit/>
          </a:bodyPr>
          <a:lstStyle/>
          <a:p>
            <a:pPr algn="l">
              <a:lnSpc>
                <a:spcPts val="4874"/>
              </a:lnSpc>
            </a:pPr>
            <a:r>
              <a:rPr lang="en-US" sz="3249" b="1">
                <a:solidFill>
                  <a:srgbClr val="2563EB"/>
                </a:solidFill>
                <a:latin typeface="Calibri (MS) Bold"/>
                <a:ea typeface="Calibri (MS) Bold"/>
                <a:cs typeface="Calibri (MS) Bold"/>
                <a:sym typeface="Calibri (MS) Bold"/>
              </a:rPr>
              <a:t>Initially weights and bias are random or ‘0’</a:t>
            </a:r>
          </a:p>
          <a:p>
            <a:pPr algn="l">
              <a:lnSpc>
                <a:spcPts val="4874"/>
              </a:lnSpc>
            </a:pPr>
            <a:endParaRPr lang="en-US" sz="3249" b="1">
              <a:solidFill>
                <a:srgbClr val="2563EB"/>
              </a:solidFill>
              <a:latin typeface="Calibri (MS) Bold"/>
              <a:ea typeface="Calibri (MS) Bold"/>
              <a:cs typeface="Calibri (MS) Bold"/>
              <a:sym typeface="Calibri (MS) Bold"/>
            </a:endParaRPr>
          </a:p>
          <a:p>
            <a:pPr algn="l">
              <a:lnSpc>
                <a:spcPts val="4874"/>
              </a:lnSpc>
              <a:spcBef>
                <a:spcPct val="0"/>
              </a:spcBef>
            </a:pPr>
            <a:r>
              <a:rPr lang="en-US" sz="3249" b="1">
                <a:solidFill>
                  <a:srgbClr val="2563EB"/>
                </a:solidFill>
                <a:latin typeface="Calibri (MS) Bold"/>
                <a:ea typeface="Calibri (MS) Bold"/>
                <a:cs typeface="Calibri (MS) Bold"/>
                <a:sym typeface="Calibri (MS) Bold"/>
              </a:rPr>
              <a:t>To update any weight(wi) , perceptron follows 3 simple step</a:t>
            </a:r>
            <a:r>
              <a:rPr lang="en-US" sz="3249">
                <a:solidFill>
                  <a:srgbClr val="1E3A8A"/>
                </a:solidFill>
                <a:latin typeface="Calibri (MS)"/>
                <a:ea typeface="Calibri (MS)"/>
                <a:cs typeface="Calibri (MS)"/>
                <a:sym typeface="Calibri (MS)"/>
              </a:rPr>
              <a: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458435" y="527933"/>
            <a:ext cx="8178288" cy="1001535"/>
            <a:chOff x="0" y="0"/>
            <a:chExt cx="10904385" cy="1335380"/>
          </a:xfrm>
        </p:grpSpPr>
        <p:sp>
          <p:nvSpPr>
            <p:cNvPr id="5" name="Freeform 5"/>
            <p:cNvSpPr/>
            <p:nvPr/>
          </p:nvSpPr>
          <p:spPr>
            <a:xfrm>
              <a:off x="0" y="0"/>
              <a:ext cx="10904384" cy="1335380"/>
            </a:xfrm>
            <a:custGeom>
              <a:avLst/>
              <a:gdLst/>
              <a:ahLst/>
              <a:cxnLst/>
              <a:rect l="l" t="t" r="r" b="b"/>
              <a:pathLst>
                <a:path w="10904384" h="1335380">
                  <a:moveTo>
                    <a:pt x="0" y="0"/>
                  </a:moveTo>
                  <a:lnTo>
                    <a:pt x="10904384" y="0"/>
                  </a:lnTo>
                  <a:lnTo>
                    <a:pt x="10904384" y="1335380"/>
                  </a:lnTo>
                  <a:lnTo>
                    <a:pt x="0" y="1335380"/>
                  </a:lnTo>
                  <a:close/>
                </a:path>
              </a:pathLst>
            </a:custGeom>
            <a:blipFill>
              <a:blip r:embed="rId3">
                <a:alphaModFix amt="0"/>
              </a:blip>
              <a:stretch>
                <a:fillRect t="-282403" r="-102145" b="-260864"/>
              </a:stretch>
            </a:blipFill>
          </p:spPr>
        </p:sp>
        <p:sp>
          <p:nvSpPr>
            <p:cNvPr id="6" name="TextBox 6"/>
            <p:cNvSpPr txBox="1"/>
            <p:nvPr/>
          </p:nvSpPr>
          <p:spPr>
            <a:xfrm>
              <a:off x="0" y="-38100"/>
              <a:ext cx="10904385" cy="137348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 Multi-Layer Neural Networks</a:t>
              </a:r>
            </a:p>
          </p:txBody>
        </p:sp>
      </p:grpSp>
      <p:sp>
        <p:nvSpPr>
          <p:cNvPr id="7" name="Freeform 7"/>
          <p:cNvSpPr/>
          <p:nvPr/>
        </p:nvSpPr>
        <p:spPr>
          <a:xfrm>
            <a:off x="8120794" y="4027132"/>
            <a:ext cx="9138506" cy="6092337"/>
          </a:xfrm>
          <a:custGeom>
            <a:avLst/>
            <a:gdLst/>
            <a:ahLst/>
            <a:cxnLst/>
            <a:rect l="l" t="t" r="r" b="b"/>
            <a:pathLst>
              <a:path w="9138506" h="6092337">
                <a:moveTo>
                  <a:pt x="0" y="0"/>
                </a:moveTo>
                <a:lnTo>
                  <a:pt x="9138506" y="0"/>
                </a:lnTo>
                <a:lnTo>
                  <a:pt x="9138506" y="6092337"/>
                </a:lnTo>
                <a:lnTo>
                  <a:pt x="0" y="6092337"/>
                </a:lnTo>
                <a:lnTo>
                  <a:pt x="0" y="0"/>
                </a:lnTo>
                <a:close/>
              </a:path>
            </a:pathLst>
          </a:custGeom>
          <a:blipFill>
            <a:blip r:embed="rId4"/>
            <a:stretch>
              <a:fillRect/>
            </a:stretch>
          </a:blipFill>
        </p:spPr>
      </p:sp>
      <p:sp>
        <p:nvSpPr>
          <p:cNvPr id="8" name="TextBox 8"/>
          <p:cNvSpPr txBox="1"/>
          <p:nvPr/>
        </p:nvSpPr>
        <p:spPr>
          <a:xfrm>
            <a:off x="458435" y="2071808"/>
            <a:ext cx="10386564" cy="178054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A Multilayer Neural Network (MLP) is a machine learning model made up of many artificial neurons arranged in layers.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592217" y="590702"/>
            <a:ext cx="16667083" cy="785812"/>
            <a:chOff x="0" y="0"/>
            <a:chExt cx="22222778" cy="1047750"/>
          </a:xfrm>
        </p:grpSpPr>
        <p:sp>
          <p:nvSpPr>
            <p:cNvPr id="5" name="Freeform 5"/>
            <p:cNvSpPr/>
            <p:nvPr/>
          </p:nvSpPr>
          <p:spPr>
            <a:xfrm>
              <a:off x="0" y="0"/>
              <a:ext cx="22222775" cy="1047750"/>
            </a:xfrm>
            <a:custGeom>
              <a:avLst/>
              <a:gdLst/>
              <a:ahLst/>
              <a:cxnLst/>
              <a:rect l="l" t="t" r="r" b="b"/>
              <a:pathLst>
                <a:path w="22222775" h="1047750">
                  <a:moveTo>
                    <a:pt x="0" y="0"/>
                  </a:moveTo>
                  <a:lnTo>
                    <a:pt x="22222775" y="0"/>
                  </a:lnTo>
                  <a:lnTo>
                    <a:pt x="22222775" y="1047750"/>
                  </a:lnTo>
                  <a:lnTo>
                    <a:pt x="0" y="1047750"/>
                  </a:lnTo>
                  <a:close/>
                </a:path>
              </a:pathLst>
            </a:custGeom>
            <a:blipFill>
              <a:blip r:embed="rId3">
                <a:alphaModFix amt="0"/>
              </a:blip>
              <a:stretch>
                <a:fillRect t="-363277" b="-363277"/>
              </a:stretch>
            </a:blipFill>
          </p:spPr>
        </p:sp>
        <p:sp>
          <p:nvSpPr>
            <p:cNvPr id="6" name="TextBox 6"/>
            <p:cNvSpPr txBox="1"/>
            <p:nvPr/>
          </p:nvSpPr>
          <p:spPr>
            <a:xfrm>
              <a:off x="0" y="-38100"/>
              <a:ext cx="22222778" cy="108585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Step 1: Forward Propagation (Guessing!)</a:t>
              </a:r>
            </a:p>
          </p:txBody>
        </p:sp>
      </p:grpSp>
      <p:sp>
        <p:nvSpPr>
          <p:cNvPr id="7" name="Freeform 7"/>
          <p:cNvSpPr/>
          <p:nvPr/>
        </p:nvSpPr>
        <p:spPr>
          <a:xfrm>
            <a:off x="4124428" y="3626838"/>
            <a:ext cx="11181576" cy="5258915"/>
          </a:xfrm>
          <a:custGeom>
            <a:avLst/>
            <a:gdLst/>
            <a:ahLst/>
            <a:cxnLst/>
            <a:rect l="l" t="t" r="r" b="b"/>
            <a:pathLst>
              <a:path w="11181576" h="5258915">
                <a:moveTo>
                  <a:pt x="0" y="0"/>
                </a:moveTo>
                <a:lnTo>
                  <a:pt x="11181576" y="0"/>
                </a:lnTo>
                <a:lnTo>
                  <a:pt x="11181576" y="5258915"/>
                </a:lnTo>
                <a:lnTo>
                  <a:pt x="0" y="5258915"/>
                </a:lnTo>
                <a:lnTo>
                  <a:pt x="0" y="0"/>
                </a:lnTo>
                <a:close/>
              </a:path>
            </a:pathLst>
          </a:custGeom>
          <a:blipFill>
            <a:blip r:embed="rId4"/>
            <a:stretch>
              <a:fillRect/>
            </a:stretch>
          </a:blipFill>
        </p:spPr>
      </p:sp>
      <p:sp>
        <p:nvSpPr>
          <p:cNvPr id="8" name="TextBox 8"/>
          <p:cNvSpPr txBox="1"/>
          <p:nvPr/>
        </p:nvSpPr>
        <p:spPr>
          <a:xfrm>
            <a:off x="1663065" y="1681315"/>
            <a:ext cx="11166129" cy="1775727"/>
          </a:xfrm>
          <a:prstGeom prst="rect">
            <a:avLst/>
          </a:prstGeom>
        </p:spPr>
        <p:txBody>
          <a:bodyPr lIns="0" tIns="0" rIns="0" bIns="0" rtlCol="0" anchor="t">
            <a:spAutoFit/>
          </a:bodyPr>
          <a:lstStyle/>
          <a:p>
            <a:pPr algn="l">
              <a:lnSpc>
                <a:spcPts val="4320"/>
              </a:lnSpc>
            </a:pPr>
            <a:r>
              <a:rPr lang="en-US" sz="3600" b="1">
                <a:solidFill>
                  <a:srgbClr val="000000"/>
                </a:solidFill>
                <a:latin typeface="Calibri (MS) Bold"/>
                <a:ea typeface="Calibri (MS) Bold"/>
                <a:cs typeface="Calibri (MS) Bold"/>
                <a:sym typeface="Calibri (MS) Bold"/>
              </a:rPr>
              <a:t>Forward propagation</a:t>
            </a:r>
            <a:r>
              <a:rPr lang="en-US" sz="3600">
                <a:solidFill>
                  <a:srgbClr val="000000"/>
                </a:solidFill>
                <a:latin typeface="Calibri (MS)"/>
                <a:ea typeface="Calibri (MS)"/>
                <a:cs typeface="Calibri (MS)"/>
                <a:sym typeface="Calibri (MS)"/>
              </a:rPr>
              <a:t> is the process of passing input data through the neural network from the input layer to the output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167"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sp>
        <p:nvSpPr>
          <p:cNvPr id="4" name="TextBox 4"/>
          <p:cNvSpPr txBox="1"/>
          <p:nvPr/>
        </p:nvSpPr>
        <p:spPr>
          <a:xfrm>
            <a:off x="9146117" y="4819967"/>
            <a:ext cx="9525" cy="580390"/>
          </a:xfrm>
          <a:prstGeom prst="rect">
            <a:avLst/>
          </a:prstGeom>
        </p:spPr>
        <p:txBody>
          <a:bodyPr lIns="0" tIns="0" rIns="0" bIns="0" rtlCol="0" anchor="t">
            <a:spAutoFit/>
          </a:bodyPr>
          <a:lstStyle/>
          <a:p>
            <a:pPr algn="ctr">
              <a:lnSpc>
                <a:spcPts val="4759"/>
              </a:lnSpc>
            </a:pPr>
            <a:endParaRPr/>
          </a:p>
        </p:txBody>
      </p:sp>
      <p:sp>
        <p:nvSpPr>
          <p:cNvPr id="5" name="TextBox 5"/>
          <p:cNvSpPr txBox="1"/>
          <p:nvPr/>
        </p:nvSpPr>
        <p:spPr>
          <a:xfrm>
            <a:off x="611198" y="537527"/>
            <a:ext cx="4473535" cy="887095"/>
          </a:xfrm>
          <a:prstGeom prst="rect">
            <a:avLst/>
          </a:prstGeom>
        </p:spPr>
        <p:txBody>
          <a:bodyPr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Loss Function</a:t>
            </a:r>
          </a:p>
        </p:txBody>
      </p:sp>
      <p:sp>
        <p:nvSpPr>
          <p:cNvPr id="6" name="TextBox 6"/>
          <p:cNvSpPr txBox="1"/>
          <p:nvPr/>
        </p:nvSpPr>
        <p:spPr>
          <a:xfrm>
            <a:off x="762000" y="2205027"/>
            <a:ext cx="10045661" cy="29806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A loss function measures the difference between the actual output and the predicted output.</a:t>
            </a:r>
          </a:p>
          <a:p>
            <a:pPr algn="ctr">
              <a:lnSpc>
                <a:spcPts val="4759"/>
              </a:lnSpc>
            </a:pPr>
            <a:endParaRPr lang="en-US" sz="3399" dirty="0">
              <a:solidFill>
                <a:srgbClr val="000000"/>
              </a:solidFill>
              <a:latin typeface="Canva Sans"/>
              <a:ea typeface="Canva Sans"/>
              <a:cs typeface="Canva Sans"/>
              <a:sym typeface="Canva Sans"/>
            </a:endParaRPr>
          </a:p>
          <a:p>
            <a:pPr algn="ctr">
              <a:lnSpc>
                <a:spcPts val="4759"/>
              </a:lnSpc>
            </a:pPr>
            <a:endParaRPr lang="en-US" sz="3399" dirty="0">
              <a:solidFill>
                <a:srgbClr val="000000"/>
              </a:solidFill>
              <a:latin typeface="Canva Sans"/>
              <a:ea typeface="Canva Sans"/>
              <a:cs typeface="Canva Sans"/>
              <a:sym typeface="Canva Sans"/>
            </a:endParaRPr>
          </a:p>
        </p:txBody>
      </p:sp>
      <p:sp>
        <p:nvSpPr>
          <p:cNvPr id="7" name="TextBox 7"/>
          <p:cNvSpPr txBox="1"/>
          <p:nvPr/>
        </p:nvSpPr>
        <p:spPr>
          <a:xfrm>
            <a:off x="4199810" y="4909185"/>
            <a:ext cx="4502587"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Cost Function</a:t>
            </a:r>
          </a:p>
        </p:txBody>
      </p:sp>
      <p:sp>
        <p:nvSpPr>
          <p:cNvPr id="8" name="TextBox 8"/>
          <p:cNvSpPr txBox="1"/>
          <p:nvPr/>
        </p:nvSpPr>
        <p:spPr>
          <a:xfrm>
            <a:off x="3592015" y="6515100"/>
            <a:ext cx="14431291" cy="3580765"/>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A cost function represents the average loss over the entire training dataset.</a:t>
            </a:r>
          </a:p>
          <a:p>
            <a:pPr algn="ctr">
              <a:lnSpc>
                <a:spcPts val="4759"/>
              </a:lnSpc>
            </a:pPr>
            <a:r>
              <a:rPr lang="en-US" sz="3399" dirty="0">
                <a:solidFill>
                  <a:srgbClr val="000000"/>
                </a:solidFill>
                <a:latin typeface="Canva Sans"/>
                <a:ea typeface="Canva Sans"/>
                <a:cs typeface="Canva Sans"/>
                <a:sym typeface="Canva Sans"/>
              </a:rPr>
              <a:t>The loss function usually measures the error for an individual example, while the cost function aggregates the error across all training examples.</a:t>
            </a:r>
          </a:p>
          <a:p>
            <a:pPr algn="ctr">
              <a:lnSpc>
                <a:spcPts val="4759"/>
              </a:lnSpc>
            </a:pPr>
            <a:endParaRPr lang="en-US" sz="3399" dirty="0">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406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842962" y="516960"/>
            <a:ext cx="16667083" cy="785812"/>
            <a:chOff x="0" y="0"/>
            <a:chExt cx="22222778" cy="1047750"/>
          </a:xfrm>
        </p:grpSpPr>
        <p:sp>
          <p:nvSpPr>
            <p:cNvPr id="5" name="Freeform 5"/>
            <p:cNvSpPr/>
            <p:nvPr/>
          </p:nvSpPr>
          <p:spPr>
            <a:xfrm>
              <a:off x="0" y="0"/>
              <a:ext cx="22222775" cy="1047750"/>
            </a:xfrm>
            <a:custGeom>
              <a:avLst/>
              <a:gdLst/>
              <a:ahLst/>
              <a:cxnLst/>
              <a:rect l="l" t="t" r="r" b="b"/>
              <a:pathLst>
                <a:path w="22222775" h="1047750">
                  <a:moveTo>
                    <a:pt x="0" y="0"/>
                  </a:moveTo>
                  <a:lnTo>
                    <a:pt x="22222775" y="0"/>
                  </a:lnTo>
                  <a:lnTo>
                    <a:pt x="22222775" y="1047750"/>
                  </a:lnTo>
                  <a:lnTo>
                    <a:pt x="0" y="1047750"/>
                  </a:lnTo>
                  <a:close/>
                </a:path>
              </a:pathLst>
            </a:custGeom>
            <a:blipFill>
              <a:blip r:embed="rId3">
                <a:alphaModFix amt="0"/>
              </a:blip>
              <a:stretch>
                <a:fillRect t="-363277" b="-363277"/>
              </a:stretch>
            </a:blipFill>
          </p:spPr>
        </p:sp>
        <p:sp>
          <p:nvSpPr>
            <p:cNvPr id="6" name="TextBox 6"/>
            <p:cNvSpPr txBox="1"/>
            <p:nvPr/>
          </p:nvSpPr>
          <p:spPr>
            <a:xfrm>
              <a:off x="0" y="-38100"/>
              <a:ext cx="22222778" cy="108585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Step 2: Backpropagation (Learning!)</a:t>
              </a:r>
            </a:p>
          </p:txBody>
        </p:sp>
      </p:grpSp>
      <p:sp>
        <p:nvSpPr>
          <p:cNvPr id="7" name="Freeform 7"/>
          <p:cNvSpPr/>
          <p:nvPr/>
        </p:nvSpPr>
        <p:spPr>
          <a:xfrm>
            <a:off x="3812684" y="4742354"/>
            <a:ext cx="11064509" cy="4985109"/>
          </a:xfrm>
          <a:custGeom>
            <a:avLst/>
            <a:gdLst/>
            <a:ahLst/>
            <a:cxnLst/>
            <a:rect l="l" t="t" r="r" b="b"/>
            <a:pathLst>
              <a:path w="11064509" h="4985109">
                <a:moveTo>
                  <a:pt x="0" y="0"/>
                </a:moveTo>
                <a:lnTo>
                  <a:pt x="11064509" y="0"/>
                </a:lnTo>
                <a:lnTo>
                  <a:pt x="11064509" y="4985109"/>
                </a:lnTo>
                <a:lnTo>
                  <a:pt x="0" y="4985109"/>
                </a:lnTo>
                <a:lnTo>
                  <a:pt x="0" y="0"/>
                </a:lnTo>
                <a:close/>
              </a:path>
            </a:pathLst>
          </a:custGeom>
          <a:blipFill>
            <a:blip r:embed="rId4"/>
            <a:stretch>
              <a:fillRect/>
            </a:stretch>
          </a:blipFill>
        </p:spPr>
      </p:sp>
      <p:sp>
        <p:nvSpPr>
          <p:cNvPr id="8" name="TextBox 8"/>
          <p:cNvSpPr txBox="1"/>
          <p:nvPr/>
        </p:nvSpPr>
        <p:spPr>
          <a:xfrm>
            <a:off x="1191577" y="2045722"/>
            <a:ext cx="10291362" cy="1775727"/>
          </a:xfrm>
          <a:prstGeom prst="rect">
            <a:avLst/>
          </a:prstGeom>
        </p:spPr>
        <p:txBody>
          <a:bodyPr lIns="0" tIns="0" rIns="0" bIns="0" rtlCol="0" anchor="t">
            <a:spAutoFit/>
          </a:bodyPr>
          <a:lstStyle/>
          <a:p>
            <a:pPr algn="l">
              <a:lnSpc>
                <a:spcPts val="4320"/>
              </a:lnSpc>
            </a:pPr>
            <a:r>
              <a:rPr lang="en-US" sz="3600">
                <a:solidFill>
                  <a:srgbClr val="000000"/>
                </a:solidFill>
                <a:latin typeface="Calibri (MS)"/>
                <a:ea typeface="Calibri (MS)"/>
                <a:cs typeface="Calibri (MS)"/>
                <a:sym typeface="Calibri (MS)"/>
              </a:rPr>
              <a:t>Backpropagation helps the neural network learn from its mistakes by adjusting the weights and biases based on the error.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64094" y="283195"/>
            <a:ext cx="7959812" cy="9720610"/>
          </a:xfrm>
          <a:custGeom>
            <a:avLst/>
            <a:gdLst/>
            <a:ahLst/>
            <a:cxnLst/>
            <a:rect l="l" t="t" r="r" b="b"/>
            <a:pathLst>
              <a:path w="7959812" h="9720610">
                <a:moveTo>
                  <a:pt x="0" y="0"/>
                </a:moveTo>
                <a:lnTo>
                  <a:pt x="7959812" y="0"/>
                </a:lnTo>
                <a:lnTo>
                  <a:pt x="7959812" y="9720610"/>
                </a:lnTo>
                <a:lnTo>
                  <a:pt x="0" y="9720610"/>
                </a:lnTo>
                <a:lnTo>
                  <a:pt x="0" y="0"/>
                </a:lnTo>
                <a:close/>
              </a:path>
            </a:pathLst>
          </a:custGeom>
          <a:blipFill>
            <a:blip r:embed="rId2"/>
            <a:stretch>
              <a:fillRect l="-6951"/>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406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842962" y="516960"/>
            <a:ext cx="16667083" cy="785812"/>
            <a:chOff x="0" y="0"/>
            <a:chExt cx="22222778" cy="1047750"/>
          </a:xfrm>
        </p:grpSpPr>
        <p:sp>
          <p:nvSpPr>
            <p:cNvPr id="5" name="Freeform 5"/>
            <p:cNvSpPr/>
            <p:nvPr/>
          </p:nvSpPr>
          <p:spPr>
            <a:xfrm>
              <a:off x="0" y="0"/>
              <a:ext cx="22222775" cy="1047750"/>
            </a:xfrm>
            <a:custGeom>
              <a:avLst/>
              <a:gdLst/>
              <a:ahLst/>
              <a:cxnLst/>
              <a:rect l="l" t="t" r="r" b="b"/>
              <a:pathLst>
                <a:path w="22222775" h="1047750">
                  <a:moveTo>
                    <a:pt x="0" y="0"/>
                  </a:moveTo>
                  <a:lnTo>
                    <a:pt x="22222775" y="0"/>
                  </a:lnTo>
                  <a:lnTo>
                    <a:pt x="22222775" y="1047750"/>
                  </a:lnTo>
                  <a:lnTo>
                    <a:pt x="0" y="1047750"/>
                  </a:lnTo>
                  <a:close/>
                </a:path>
              </a:pathLst>
            </a:custGeom>
            <a:blipFill>
              <a:blip r:embed="rId3">
                <a:alphaModFix amt="0"/>
              </a:blip>
              <a:stretch>
                <a:fillRect t="-363277" b="-363277"/>
              </a:stretch>
            </a:blipFill>
          </p:spPr>
        </p:sp>
        <p:sp>
          <p:nvSpPr>
            <p:cNvPr id="6" name="TextBox 6"/>
            <p:cNvSpPr txBox="1"/>
            <p:nvPr/>
          </p:nvSpPr>
          <p:spPr>
            <a:xfrm>
              <a:off x="0" y="-38100"/>
              <a:ext cx="22222778" cy="108585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Step 2: Backpropagation (Learning!)</a:t>
              </a:r>
            </a:p>
          </p:txBody>
        </p:sp>
      </p:grpSp>
      <p:sp>
        <p:nvSpPr>
          <p:cNvPr id="7" name="TextBox 7"/>
          <p:cNvSpPr txBox="1"/>
          <p:nvPr/>
        </p:nvSpPr>
        <p:spPr>
          <a:xfrm>
            <a:off x="344448" y="1925885"/>
            <a:ext cx="5508070" cy="695961"/>
          </a:xfrm>
          <a:prstGeom prst="rect">
            <a:avLst/>
          </a:prstGeom>
        </p:spPr>
        <p:txBody>
          <a:bodyPr lIns="0" tIns="0" rIns="0" bIns="0" rtlCol="0" anchor="t">
            <a:spAutoFit/>
          </a:bodyPr>
          <a:lstStyle/>
          <a:p>
            <a:pPr algn="ctr">
              <a:lnSpc>
                <a:spcPts val="5739"/>
              </a:lnSpc>
            </a:pPr>
            <a:r>
              <a:rPr lang="en-US" sz="4099" b="1">
                <a:solidFill>
                  <a:srgbClr val="000000"/>
                </a:solidFill>
                <a:latin typeface="Canva Sans Bold"/>
                <a:ea typeface="Canva Sans Bold"/>
                <a:cs typeface="Canva Sans Bold"/>
                <a:sym typeface="Canva Sans Bold"/>
              </a:rPr>
              <a:t>What is an Optimizer?</a:t>
            </a:r>
          </a:p>
        </p:txBody>
      </p:sp>
      <p:sp>
        <p:nvSpPr>
          <p:cNvPr id="8" name="TextBox 8"/>
          <p:cNvSpPr txBox="1"/>
          <p:nvPr/>
        </p:nvSpPr>
        <p:spPr>
          <a:xfrm>
            <a:off x="842963" y="3387020"/>
            <a:ext cx="9324522" cy="178054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An optimizer is an algorithm used to update the weights and biases of a neural network during training.</a:t>
            </a:r>
          </a:p>
        </p:txBody>
      </p:sp>
      <p:sp>
        <p:nvSpPr>
          <p:cNvPr id="9" name="TextBox 9"/>
          <p:cNvSpPr txBox="1"/>
          <p:nvPr/>
        </p:nvSpPr>
        <p:spPr>
          <a:xfrm>
            <a:off x="3098483" y="6480412"/>
            <a:ext cx="6984445" cy="647700"/>
          </a:xfrm>
          <a:prstGeom prst="rect">
            <a:avLst/>
          </a:prstGeom>
        </p:spPr>
        <p:txBody>
          <a:bodyPr lIns="0" tIns="0" rIns="0" bIns="0" rtlCol="0" anchor="t">
            <a:spAutoFit/>
          </a:bodyPr>
          <a:lstStyle/>
          <a:p>
            <a:pPr algn="ctr">
              <a:lnSpc>
                <a:spcPts val="4860"/>
              </a:lnSpc>
              <a:spcBef>
                <a:spcPct val="0"/>
              </a:spcBef>
            </a:pPr>
            <a:r>
              <a:rPr lang="en-US" sz="4050" b="1">
                <a:solidFill>
                  <a:srgbClr val="000000"/>
                </a:solidFill>
                <a:latin typeface="Poppins Bold"/>
                <a:ea typeface="Poppins Bold"/>
                <a:cs typeface="Poppins Bold"/>
                <a:sym typeface="Poppins Bold"/>
              </a:rPr>
              <a:t>What is Gradient Descent?</a:t>
            </a:r>
          </a:p>
        </p:txBody>
      </p:sp>
      <p:sp>
        <p:nvSpPr>
          <p:cNvPr id="10" name="TextBox 10"/>
          <p:cNvSpPr txBox="1"/>
          <p:nvPr/>
        </p:nvSpPr>
        <p:spPr>
          <a:xfrm>
            <a:off x="3108363" y="7738293"/>
            <a:ext cx="14150937" cy="1180465"/>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Gradient Descent is an optimization algorithm used to minimize the loss or cost function.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406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842962" y="516960"/>
            <a:ext cx="16667083" cy="785812"/>
            <a:chOff x="0" y="0"/>
            <a:chExt cx="22222778" cy="1047750"/>
          </a:xfrm>
        </p:grpSpPr>
        <p:sp>
          <p:nvSpPr>
            <p:cNvPr id="5" name="Freeform 5"/>
            <p:cNvSpPr/>
            <p:nvPr/>
          </p:nvSpPr>
          <p:spPr>
            <a:xfrm>
              <a:off x="0" y="0"/>
              <a:ext cx="22222775" cy="1047750"/>
            </a:xfrm>
            <a:custGeom>
              <a:avLst/>
              <a:gdLst/>
              <a:ahLst/>
              <a:cxnLst/>
              <a:rect l="l" t="t" r="r" b="b"/>
              <a:pathLst>
                <a:path w="22222775" h="1047750">
                  <a:moveTo>
                    <a:pt x="0" y="0"/>
                  </a:moveTo>
                  <a:lnTo>
                    <a:pt x="22222775" y="0"/>
                  </a:lnTo>
                  <a:lnTo>
                    <a:pt x="22222775" y="1047750"/>
                  </a:lnTo>
                  <a:lnTo>
                    <a:pt x="0" y="1047750"/>
                  </a:lnTo>
                  <a:close/>
                </a:path>
              </a:pathLst>
            </a:custGeom>
            <a:blipFill>
              <a:blip r:embed="rId3">
                <a:alphaModFix amt="0"/>
              </a:blip>
              <a:stretch>
                <a:fillRect t="-363277" b="-363277"/>
              </a:stretch>
            </a:blipFill>
          </p:spPr>
        </p:sp>
        <p:sp>
          <p:nvSpPr>
            <p:cNvPr id="6" name="TextBox 6"/>
            <p:cNvSpPr txBox="1"/>
            <p:nvPr/>
          </p:nvSpPr>
          <p:spPr>
            <a:xfrm>
              <a:off x="0" y="-38100"/>
              <a:ext cx="22222778" cy="108585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Step 2: Backpropagation (Learning!)</a:t>
              </a:r>
            </a:p>
          </p:txBody>
        </p:sp>
      </p:grpSp>
      <p:sp>
        <p:nvSpPr>
          <p:cNvPr id="7" name="TextBox 7"/>
          <p:cNvSpPr txBox="1"/>
          <p:nvPr/>
        </p:nvSpPr>
        <p:spPr>
          <a:xfrm>
            <a:off x="533400" y="1520179"/>
            <a:ext cx="7861578" cy="695961"/>
          </a:xfrm>
          <a:prstGeom prst="rect">
            <a:avLst/>
          </a:prstGeom>
        </p:spPr>
        <p:txBody>
          <a:bodyPr lIns="0" tIns="0" rIns="0" bIns="0" rtlCol="0" anchor="t">
            <a:spAutoFit/>
          </a:bodyPr>
          <a:lstStyle/>
          <a:p>
            <a:pPr algn="ctr">
              <a:lnSpc>
                <a:spcPts val="5739"/>
              </a:lnSpc>
            </a:pPr>
            <a:r>
              <a:rPr lang="en-US" sz="4099" dirty="0">
                <a:solidFill>
                  <a:srgbClr val="000000"/>
                </a:solidFill>
                <a:latin typeface="Canva Sans"/>
                <a:ea typeface="Canva Sans"/>
                <a:cs typeface="Canva Sans"/>
                <a:sym typeface="Canva Sans"/>
              </a:rPr>
              <a:t>Challenges in Gradient Descent</a:t>
            </a:r>
          </a:p>
        </p:txBody>
      </p:sp>
      <p:sp>
        <p:nvSpPr>
          <p:cNvPr id="8" name="TextBox 8"/>
          <p:cNvSpPr txBox="1"/>
          <p:nvPr/>
        </p:nvSpPr>
        <p:spPr>
          <a:xfrm>
            <a:off x="3241746" y="3129509"/>
            <a:ext cx="17573624" cy="7181551"/>
          </a:xfrm>
          <a:prstGeom prst="rect">
            <a:avLst/>
          </a:prstGeom>
        </p:spPr>
        <p:txBody>
          <a:bodyPr lIns="0" tIns="0" rIns="0" bIns="0" rtlCol="0" anchor="t">
            <a:spAutoFit/>
          </a:bodyPr>
          <a:lstStyle/>
          <a:p>
            <a:pPr algn="l">
              <a:lnSpc>
                <a:spcPts val="3166"/>
              </a:lnSpc>
            </a:pPr>
            <a:r>
              <a:rPr lang="en-US" sz="2261" dirty="0">
                <a:solidFill>
                  <a:srgbClr val="000000"/>
                </a:solidFill>
                <a:latin typeface="Canva Sans"/>
                <a:ea typeface="Canva Sans"/>
                <a:cs typeface="Canva Sans"/>
                <a:sym typeface="Canva Sans"/>
              </a:rPr>
              <a:t>1. Learning Rate Selection</a:t>
            </a:r>
          </a:p>
          <a:p>
            <a:pPr algn="l">
              <a:lnSpc>
                <a:spcPts val="3166"/>
              </a:lnSpc>
            </a:pPr>
            <a:r>
              <a:rPr lang="en-US" sz="2261" dirty="0">
                <a:solidFill>
                  <a:srgbClr val="000000"/>
                </a:solidFill>
                <a:latin typeface="Canva Sans"/>
                <a:ea typeface="Canva Sans"/>
                <a:cs typeface="Canva Sans"/>
                <a:sym typeface="Canva Sans"/>
              </a:rPr>
              <a:t>A learning rate that is:</a:t>
            </a:r>
          </a:p>
          <a:p>
            <a:pPr marL="488314" lvl="1" indent="-244157" algn="l">
              <a:lnSpc>
                <a:spcPts val="3166"/>
              </a:lnSpc>
              <a:buFont typeface="Arial"/>
              <a:buChar char="•"/>
            </a:pPr>
            <a:r>
              <a:rPr lang="en-US" sz="2261" dirty="0">
                <a:solidFill>
                  <a:srgbClr val="000000"/>
                </a:solidFill>
                <a:latin typeface="Canva Sans"/>
                <a:ea typeface="Canva Sans"/>
                <a:cs typeface="Canva Sans"/>
                <a:sym typeface="Canva Sans"/>
              </a:rPr>
              <a:t>Too small → Training becomes very slow</a:t>
            </a:r>
          </a:p>
          <a:p>
            <a:pPr marL="488314" lvl="1" indent="-244157" algn="l">
              <a:lnSpc>
                <a:spcPts val="3166"/>
              </a:lnSpc>
              <a:buFont typeface="Arial"/>
              <a:buChar char="•"/>
            </a:pPr>
            <a:r>
              <a:rPr lang="en-US" sz="2261" dirty="0">
                <a:solidFill>
                  <a:srgbClr val="000000"/>
                </a:solidFill>
                <a:latin typeface="Canva Sans"/>
                <a:ea typeface="Canva Sans"/>
                <a:cs typeface="Canva Sans"/>
                <a:sym typeface="Canva Sans"/>
              </a:rPr>
              <a:t>Too large → The model may overshoot the minimum and become unstable</a:t>
            </a:r>
          </a:p>
          <a:p>
            <a:pPr algn="l">
              <a:lnSpc>
                <a:spcPts val="3166"/>
              </a:lnSpc>
            </a:pPr>
            <a:endParaRPr lang="en-US" sz="2261" dirty="0">
              <a:solidFill>
                <a:srgbClr val="000000"/>
              </a:solidFill>
              <a:latin typeface="Canva Sans"/>
              <a:ea typeface="Canva Sans"/>
              <a:cs typeface="Canva Sans"/>
              <a:sym typeface="Canva Sans"/>
            </a:endParaRPr>
          </a:p>
          <a:p>
            <a:pPr algn="l">
              <a:lnSpc>
                <a:spcPts val="3166"/>
              </a:lnSpc>
            </a:pPr>
            <a:r>
              <a:rPr lang="en-US" sz="2261" dirty="0">
                <a:solidFill>
                  <a:srgbClr val="000000"/>
                </a:solidFill>
                <a:latin typeface="Canva Sans"/>
                <a:ea typeface="Canva Sans"/>
                <a:cs typeface="Canva Sans"/>
                <a:sym typeface="Canva Sans"/>
              </a:rPr>
              <a:t>2. Local Minima</a:t>
            </a:r>
          </a:p>
          <a:p>
            <a:pPr algn="l">
              <a:lnSpc>
                <a:spcPts val="3166"/>
              </a:lnSpc>
            </a:pPr>
            <a:r>
              <a:rPr lang="en-US" sz="2261" dirty="0">
                <a:solidFill>
                  <a:srgbClr val="000000"/>
                </a:solidFill>
                <a:latin typeface="Canva Sans"/>
                <a:ea typeface="Canva Sans"/>
                <a:cs typeface="Canva Sans"/>
                <a:sym typeface="Canva Sans"/>
              </a:rPr>
              <a:t>The algorithm may reach a point where the loss is low but not the lowest possible value.</a:t>
            </a:r>
          </a:p>
          <a:p>
            <a:pPr algn="l">
              <a:lnSpc>
                <a:spcPts val="3166"/>
              </a:lnSpc>
            </a:pPr>
            <a:endParaRPr lang="en-US" sz="2261" dirty="0">
              <a:solidFill>
                <a:srgbClr val="000000"/>
              </a:solidFill>
              <a:latin typeface="Canva Sans"/>
              <a:ea typeface="Canva Sans"/>
              <a:cs typeface="Canva Sans"/>
              <a:sym typeface="Canva Sans"/>
            </a:endParaRPr>
          </a:p>
          <a:p>
            <a:pPr algn="l">
              <a:lnSpc>
                <a:spcPts val="3166"/>
              </a:lnSpc>
            </a:pPr>
            <a:r>
              <a:rPr lang="en-US" sz="2261" dirty="0">
                <a:solidFill>
                  <a:srgbClr val="000000"/>
                </a:solidFill>
                <a:latin typeface="Canva Sans"/>
                <a:ea typeface="Canva Sans"/>
                <a:cs typeface="Canva Sans"/>
                <a:sym typeface="Canva Sans"/>
              </a:rPr>
              <a:t>3. Saddle Points</a:t>
            </a:r>
          </a:p>
          <a:p>
            <a:pPr algn="l">
              <a:lnSpc>
                <a:spcPts val="3166"/>
              </a:lnSpc>
            </a:pPr>
            <a:r>
              <a:rPr lang="en-US" sz="2261" dirty="0">
                <a:solidFill>
                  <a:srgbClr val="000000"/>
                </a:solidFill>
                <a:latin typeface="Canva Sans"/>
                <a:ea typeface="Canva Sans"/>
                <a:cs typeface="Canva Sans"/>
                <a:sym typeface="Canva Sans"/>
              </a:rPr>
              <a:t>The gradient may become very small, causing the model to learn extremely slowly.</a:t>
            </a:r>
          </a:p>
          <a:p>
            <a:pPr algn="l">
              <a:lnSpc>
                <a:spcPts val="3166"/>
              </a:lnSpc>
            </a:pPr>
            <a:endParaRPr lang="en-US" sz="2261" dirty="0">
              <a:solidFill>
                <a:srgbClr val="000000"/>
              </a:solidFill>
              <a:latin typeface="Canva Sans"/>
              <a:ea typeface="Canva Sans"/>
              <a:cs typeface="Canva Sans"/>
              <a:sym typeface="Canva Sans"/>
            </a:endParaRPr>
          </a:p>
          <a:p>
            <a:pPr algn="l">
              <a:lnSpc>
                <a:spcPts val="3166"/>
              </a:lnSpc>
            </a:pPr>
            <a:r>
              <a:rPr lang="en-US" sz="2261" dirty="0">
                <a:solidFill>
                  <a:srgbClr val="000000"/>
                </a:solidFill>
                <a:latin typeface="Canva Sans"/>
                <a:ea typeface="Canva Sans"/>
                <a:cs typeface="Canva Sans"/>
                <a:sym typeface="Canva Sans"/>
              </a:rPr>
              <a:t>4. Vanishing Gradients</a:t>
            </a:r>
          </a:p>
          <a:p>
            <a:pPr algn="l">
              <a:lnSpc>
                <a:spcPts val="3166"/>
              </a:lnSpc>
            </a:pPr>
            <a:r>
              <a:rPr lang="en-US" sz="2261" dirty="0">
                <a:solidFill>
                  <a:srgbClr val="000000"/>
                </a:solidFill>
                <a:latin typeface="Canva Sans"/>
                <a:ea typeface="Canva Sans"/>
                <a:cs typeface="Canva Sans"/>
                <a:sym typeface="Canva Sans"/>
              </a:rPr>
              <a:t>Gradients become extremely small as they move backward through deep networks.</a:t>
            </a:r>
          </a:p>
          <a:p>
            <a:pPr algn="l">
              <a:lnSpc>
                <a:spcPts val="3166"/>
              </a:lnSpc>
            </a:pPr>
            <a:r>
              <a:rPr lang="en-US" sz="2261" dirty="0">
                <a:solidFill>
                  <a:srgbClr val="000000"/>
                </a:solidFill>
                <a:latin typeface="Canva Sans"/>
                <a:ea typeface="Canva Sans"/>
                <a:cs typeface="Canva Sans"/>
                <a:sym typeface="Canva Sans"/>
              </a:rPr>
              <a:t>This makes learning difficult.</a:t>
            </a:r>
          </a:p>
          <a:p>
            <a:pPr algn="l">
              <a:lnSpc>
                <a:spcPts val="3166"/>
              </a:lnSpc>
            </a:pPr>
            <a:endParaRPr lang="en-US" sz="2261" dirty="0">
              <a:solidFill>
                <a:srgbClr val="000000"/>
              </a:solidFill>
              <a:latin typeface="Canva Sans"/>
              <a:ea typeface="Canva Sans"/>
              <a:cs typeface="Canva Sans"/>
              <a:sym typeface="Canva Sans"/>
            </a:endParaRPr>
          </a:p>
          <a:p>
            <a:pPr algn="l">
              <a:lnSpc>
                <a:spcPts val="3166"/>
              </a:lnSpc>
            </a:pPr>
            <a:r>
              <a:rPr lang="en-US" sz="2261" dirty="0">
                <a:solidFill>
                  <a:srgbClr val="000000"/>
                </a:solidFill>
                <a:latin typeface="Canva Sans"/>
                <a:ea typeface="Canva Sans"/>
                <a:cs typeface="Canva Sans"/>
                <a:sym typeface="Canva Sans"/>
              </a:rPr>
              <a:t>5. Exploding Gradients</a:t>
            </a:r>
          </a:p>
          <a:p>
            <a:pPr algn="l">
              <a:lnSpc>
                <a:spcPts val="3166"/>
              </a:lnSpc>
            </a:pPr>
            <a:r>
              <a:rPr lang="en-US" sz="2261" dirty="0">
                <a:solidFill>
                  <a:srgbClr val="000000"/>
                </a:solidFill>
                <a:latin typeface="Canva Sans"/>
                <a:ea typeface="Canva Sans"/>
                <a:cs typeface="Canva Sans"/>
                <a:sym typeface="Canva Sans"/>
              </a:rPr>
              <a:t>Gradients become extremely large, causing unstable weight updates.</a:t>
            </a:r>
          </a:p>
          <a:p>
            <a:pPr algn="l">
              <a:lnSpc>
                <a:spcPts val="3166"/>
              </a:lnSpc>
            </a:pPr>
            <a:endParaRPr lang="en-US" sz="2261" dirty="0">
              <a:solidFill>
                <a:srgbClr val="000000"/>
              </a:solidFill>
              <a:latin typeface="Canva Sans"/>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985733" y="4529138"/>
            <a:ext cx="5305349" cy="4729162"/>
            <a:chOff x="0" y="0"/>
            <a:chExt cx="7073798" cy="6305550"/>
          </a:xfrm>
        </p:grpSpPr>
        <p:sp>
          <p:nvSpPr>
            <p:cNvPr id="5" name="Freeform 5" descr="image.png"/>
            <p:cNvSpPr/>
            <p:nvPr/>
          </p:nvSpPr>
          <p:spPr>
            <a:xfrm>
              <a:off x="0" y="0"/>
              <a:ext cx="7073773" cy="6305550"/>
            </a:xfrm>
            <a:custGeom>
              <a:avLst/>
              <a:gdLst/>
              <a:ahLst/>
              <a:cxnLst/>
              <a:rect l="l" t="t" r="r" b="b"/>
              <a:pathLst>
                <a:path w="7073773" h="6305550">
                  <a:moveTo>
                    <a:pt x="0" y="0"/>
                  </a:moveTo>
                  <a:lnTo>
                    <a:pt x="7073773" y="0"/>
                  </a:lnTo>
                  <a:lnTo>
                    <a:pt x="7073773" y="6305550"/>
                  </a:lnTo>
                  <a:lnTo>
                    <a:pt x="0" y="6305550"/>
                  </a:lnTo>
                  <a:lnTo>
                    <a:pt x="0" y="0"/>
                  </a:lnTo>
                  <a:close/>
                </a:path>
              </a:pathLst>
            </a:custGeom>
            <a:blipFill>
              <a:blip r:embed="rId3"/>
              <a:stretch>
                <a:fillRect l="-359" r="-360"/>
              </a:stretch>
            </a:blipFill>
          </p:spPr>
        </p:sp>
      </p:grpSp>
      <p:grpSp>
        <p:nvGrpSpPr>
          <p:cNvPr id="6" name="Group 6"/>
          <p:cNvGrpSpPr/>
          <p:nvPr/>
        </p:nvGrpSpPr>
        <p:grpSpPr>
          <a:xfrm>
            <a:off x="6633982" y="4529138"/>
            <a:ext cx="5305349" cy="4729162"/>
            <a:chOff x="0" y="0"/>
            <a:chExt cx="7073798" cy="6305550"/>
          </a:xfrm>
        </p:grpSpPr>
        <p:sp>
          <p:nvSpPr>
            <p:cNvPr id="7" name="Freeform 7" descr="image.png"/>
            <p:cNvSpPr/>
            <p:nvPr/>
          </p:nvSpPr>
          <p:spPr>
            <a:xfrm>
              <a:off x="0" y="0"/>
              <a:ext cx="7073773" cy="6305550"/>
            </a:xfrm>
            <a:custGeom>
              <a:avLst/>
              <a:gdLst/>
              <a:ahLst/>
              <a:cxnLst/>
              <a:rect l="l" t="t" r="r" b="b"/>
              <a:pathLst>
                <a:path w="7073773" h="6305550">
                  <a:moveTo>
                    <a:pt x="0" y="0"/>
                  </a:moveTo>
                  <a:lnTo>
                    <a:pt x="7073773" y="0"/>
                  </a:lnTo>
                  <a:lnTo>
                    <a:pt x="7073773" y="6305550"/>
                  </a:lnTo>
                  <a:lnTo>
                    <a:pt x="0" y="6305550"/>
                  </a:lnTo>
                  <a:lnTo>
                    <a:pt x="0" y="0"/>
                  </a:lnTo>
                  <a:close/>
                </a:path>
              </a:pathLst>
            </a:custGeom>
            <a:blipFill>
              <a:blip r:embed="rId4"/>
              <a:stretch>
                <a:fillRect l="-359" r="-360"/>
              </a:stretch>
            </a:blipFill>
          </p:spPr>
        </p:sp>
      </p:grpSp>
      <p:grpSp>
        <p:nvGrpSpPr>
          <p:cNvPr id="8" name="Group 8"/>
          <p:cNvGrpSpPr/>
          <p:nvPr/>
        </p:nvGrpSpPr>
        <p:grpSpPr>
          <a:xfrm>
            <a:off x="12282373" y="4529138"/>
            <a:ext cx="5305349" cy="4729162"/>
            <a:chOff x="0" y="0"/>
            <a:chExt cx="7073798" cy="6305550"/>
          </a:xfrm>
        </p:grpSpPr>
        <p:sp>
          <p:nvSpPr>
            <p:cNvPr id="9" name="Freeform 9" descr="image.png"/>
            <p:cNvSpPr/>
            <p:nvPr/>
          </p:nvSpPr>
          <p:spPr>
            <a:xfrm>
              <a:off x="0" y="0"/>
              <a:ext cx="7073773" cy="6305550"/>
            </a:xfrm>
            <a:custGeom>
              <a:avLst/>
              <a:gdLst/>
              <a:ahLst/>
              <a:cxnLst/>
              <a:rect l="l" t="t" r="r" b="b"/>
              <a:pathLst>
                <a:path w="7073773" h="6305550">
                  <a:moveTo>
                    <a:pt x="0" y="0"/>
                  </a:moveTo>
                  <a:lnTo>
                    <a:pt x="7073773" y="0"/>
                  </a:lnTo>
                  <a:lnTo>
                    <a:pt x="7073773" y="6305550"/>
                  </a:lnTo>
                  <a:lnTo>
                    <a:pt x="0" y="6305550"/>
                  </a:lnTo>
                  <a:lnTo>
                    <a:pt x="0" y="0"/>
                  </a:lnTo>
                  <a:close/>
                </a:path>
              </a:pathLst>
            </a:custGeom>
            <a:blipFill>
              <a:blip r:embed="rId5"/>
              <a:stretch>
                <a:fillRect l="-359" r="-360"/>
              </a:stretch>
            </a:blipFill>
          </p:spPr>
        </p:sp>
      </p:grpSp>
      <p:grpSp>
        <p:nvGrpSpPr>
          <p:cNvPr id="10" name="Group 10"/>
          <p:cNvGrpSpPr/>
          <p:nvPr/>
        </p:nvGrpSpPr>
        <p:grpSpPr>
          <a:xfrm>
            <a:off x="842962" y="835819"/>
            <a:ext cx="642938" cy="514350"/>
            <a:chOff x="0" y="0"/>
            <a:chExt cx="857250" cy="685800"/>
          </a:xfrm>
        </p:grpSpPr>
        <p:sp>
          <p:nvSpPr>
            <p:cNvPr id="11" name="Freeform 11" descr="image.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6"/>
              <a:stretch>
                <a:fillRect t="-1388" b="-1388"/>
              </a:stretch>
            </a:blipFill>
          </p:spPr>
        </p:sp>
      </p:grpSp>
      <p:grpSp>
        <p:nvGrpSpPr>
          <p:cNvPr id="12" name="Group 12"/>
          <p:cNvGrpSpPr/>
          <p:nvPr/>
        </p:nvGrpSpPr>
        <p:grpSpPr>
          <a:xfrm>
            <a:off x="2995574" y="4890206"/>
            <a:ext cx="1000125" cy="1000125"/>
            <a:chOff x="0" y="0"/>
            <a:chExt cx="1333500" cy="1333500"/>
          </a:xfrm>
        </p:grpSpPr>
        <p:sp>
          <p:nvSpPr>
            <p:cNvPr id="13" name="Freeform 13"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7"/>
              <a:stretch>
                <a:fillRect/>
              </a:stretch>
            </a:blipFill>
          </p:spPr>
        </p:sp>
      </p:grpSp>
      <p:sp>
        <p:nvSpPr>
          <p:cNvPr id="14" name="TextBox 14"/>
          <p:cNvSpPr txBox="1"/>
          <p:nvPr/>
        </p:nvSpPr>
        <p:spPr>
          <a:xfrm>
            <a:off x="1932942" y="6271331"/>
            <a:ext cx="3525441" cy="585787"/>
          </a:xfrm>
          <a:prstGeom prst="rect">
            <a:avLst/>
          </a:prstGeom>
        </p:spPr>
        <p:txBody>
          <a:bodyPr lIns="0" tIns="0" rIns="0" bIns="0" rtlCol="0" anchor="t">
            <a:spAutoFit/>
          </a:bodyPr>
          <a:lstStyle/>
          <a:p>
            <a:pPr algn="ctr">
              <a:lnSpc>
                <a:spcPts val="3510"/>
              </a:lnSpc>
            </a:pPr>
            <a:r>
              <a:rPr lang="en-US" sz="2925">
                <a:solidFill>
                  <a:srgbClr val="2563EB"/>
                </a:solidFill>
                <a:latin typeface="Poppins"/>
                <a:ea typeface="Poppins"/>
                <a:cs typeface="Poppins"/>
                <a:sym typeface="Poppins"/>
              </a:rPr>
              <a:t>Too Big (e.g., 10.0)</a:t>
            </a:r>
          </a:p>
        </p:txBody>
      </p:sp>
      <p:sp>
        <p:nvSpPr>
          <p:cNvPr id="15" name="TextBox 15"/>
          <p:cNvSpPr txBox="1"/>
          <p:nvPr/>
        </p:nvSpPr>
        <p:spPr>
          <a:xfrm>
            <a:off x="1285875" y="7198204"/>
            <a:ext cx="4419524" cy="917096"/>
          </a:xfrm>
          <a:prstGeom prst="rect">
            <a:avLst/>
          </a:prstGeom>
        </p:spPr>
        <p:txBody>
          <a:bodyPr lIns="0" tIns="0" rIns="0" bIns="0" rtlCol="0" anchor="t">
            <a:spAutoFit/>
          </a:bodyPr>
          <a:lstStyle/>
          <a:p>
            <a:pPr algn="ctr">
              <a:lnSpc>
                <a:spcPts val="3375"/>
              </a:lnSpc>
            </a:pPr>
            <a:r>
              <a:rPr lang="en-US" sz="2250">
                <a:solidFill>
                  <a:srgbClr val="334155"/>
                </a:solidFill>
                <a:latin typeface="Fredoka"/>
                <a:ea typeface="Fredoka"/>
                <a:cs typeface="Fredoka"/>
                <a:sym typeface="Fredoka"/>
              </a:rPr>
              <a:t>The robot jumps wildly past the target and gets completely lost! </a:t>
            </a:r>
          </a:p>
        </p:txBody>
      </p:sp>
      <p:grpSp>
        <p:nvGrpSpPr>
          <p:cNvPr id="16" name="Group 16"/>
          <p:cNvGrpSpPr/>
          <p:nvPr/>
        </p:nvGrpSpPr>
        <p:grpSpPr>
          <a:xfrm>
            <a:off x="8786593" y="5100638"/>
            <a:ext cx="1000125" cy="1000125"/>
            <a:chOff x="0" y="0"/>
            <a:chExt cx="1333500" cy="1333500"/>
          </a:xfrm>
        </p:grpSpPr>
        <p:sp>
          <p:nvSpPr>
            <p:cNvPr id="17" name="Freeform 17"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8"/>
              <a:stretch>
                <a:fillRect/>
              </a:stretch>
            </a:blipFill>
          </p:spPr>
        </p:sp>
      </p:grpSp>
      <p:sp>
        <p:nvSpPr>
          <p:cNvPr id="18" name="TextBox 18"/>
          <p:cNvSpPr txBox="1"/>
          <p:nvPr/>
        </p:nvSpPr>
        <p:spPr>
          <a:xfrm>
            <a:off x="7358915" y="6271331"/>
            <a:ext cx="3855482" cy="585787"/>
          </a:xfrm>
          <a:prstGeom prst="rect">
            <a:avLst/>
          </a:prstGeom>
        </p:spPr>
        <p:txBody>
          <a:bodyPr lIns="0" tIns="0" rIns="0" bIns="0" rtlCol="0" anchor="t">
            <a:spAutoFit/>
          </a:bodyPr>
          <a:lstStyle/>
          <a:p>
            <a:pPr algn="ctr">
              <a:lnSpc>
                <a:spcPts val="3510"/>
              </a:lnSpc>
            </a:pPr>
            <a:r>
              <a:rPr lang="en-US" sz="2925">
                <a:solidFill>
                  <a:srgbClr val="2563EB"/>
                </a:solidFill>
                <a:latin typeface="Poppins"/>
                <a:ea typeface="Poppins"/>
                <a:cs typeface="Poppins"/>
                <a:sym typeface="Poppins"/>
              </a:rPr>
              <a:t>Just Right (e.g., 1.0)</a:t>
            </a:r>
          </a:p>
        </p:txBody>
      </p:sp>
      <p:sp>
        <p:nvSpPr>
          <p:cNvPr id="19" name="TextBox 19"/>
          <p:cNvSpPr txBox="1"/>
          <p:nvPr/>
        </p:nvSpPr>
        <p:spPr>
          <a:xfrm>
            <a:off x="7076894" y="7198204"/>
            <a:ext cx="4419524" cy="917096"/>
          </a:xfrm>
          <a:prstGeom prst="rect">
            <a:avLst/>
          </a:prstGeom>
        </p:spPr>
        <p:txBody>
          <a:bodyPr lIns="0" tIns="0" rIns="0" bIns="0" rtlCol="0" anchor="t">
            <a:spAutoFit/>
          </a:bodyPr>
          <a:lstStyle/>
          <a:p>
            <a:pPr algn="ctr">
              <a:lnSpc>
                <a:spcPts val="3375"/>
              </a:lnSpc>
            </a:pPr>
            <a:r>
              <a:rPr lang="en-US" sz="2250">
                <a:solidFill>
                  <a:srgbClr val="334155"/>
                </a:solidFill>
                <a:latin typeface="Fredoka"/>
                <a:ea typeface="Fredoka"/>
                <a:cs typeface="Fredoka"/>
                <a:sym typeface="Fredoka"/>
              </a:rPr>
              <a:t>Smooth, steady steps right down to zero errors! Perfect balance! </a:t>
            </a:r>
          </a:p>
        </p:txBody>
      </p:sp>
      <p:grpSp>
        <p:nvGrpSpPr>
          <p:cNvPr id="20" name="Group 20"/>
          <p:cNvGrpSpPr/>
          <p:nvPr/>
        </p:nvGrpSpPr>
        <p:grpSpPr>
          <a:xfrm>
            <a:off x="14434985" y="5100638"/>
            <a:ext cx="1000125" cy="1000125"/>
            <a:chOff x="0" y="0"/>
            <a:chExt cx="1333500" cy="1333500"/>
          </a:xfrm>
        </p:grpSpPr>
        <p:sp>
          <p:nvSpPr>
            <p:cNvPr id="21" name="Freeform 21"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9"/>
              <a:stretch>
                <a:fillRect/>
              </a:stretch>
            </a:blipFill>
          </p:spPr>
        </p:sp>
      </p:grpSp>
      <p:sp>
        <p:nvSpPr>
          <p:cNvPr id="22" name="TextBox 22"/>
          <p:cNvSpPr txBox="1"/>
          <p:nvPr/>
        </p:nvSpPr>
        <p:spPr>
          <a:xfrm>
            <a:off x="12711360" y="6271331"/>
            <a:ext cx="4290536" cy="585787"/>
          </a:xfrm>
          <a:prstGeom prst="rect">
            <a:avLst/>
          </a:prstGeom>
        </p:spPr>
        <p:txBody>
          <a:bodyPr lIns="0" tIns="0" rIns="0" bIns="0" rtlCol="0" anchor="t">
            <a:spAutoFit/>
          </a:bodyPr>
          <a:lstStyle/>
          <a:p>
            <a:pPr algn="ctr">
              <a:lnSpc>
                <a:spcPts val="3510"/>
              </a:lnSpc>
            </a:pPr>
            <a:r>
              <a:rPr lang="en-US" sz="2925">
                <a:solidFill>
                  <a:srgbClr val="2563EB"/>
                </a:solidFill>
                <a:latin typeface="Poppins"/>
                <a:ea typeface="Poppins"/>
                <a:cs typeface="Poppins"/>
                <a:sym typeface="Poppins"/>
              </a:rPr>
              <a:t>Too Small (e.g., 0.001)</a:t>
            </a:r>
          </a:p>
        </p:txBody>
      </p:sp>
      <p:sp>
        <p:nvSpPr>
          <p:cNvPr id="23" name="TextBox 23"/>
          <p:cNvSpPr txBox="1"/>
          <p:nvPr/>
        </p:nvSpPr>
        <p:spPr>
          <a:xfrm>
            <a:off x="12582373" y="7191375"/>
            <a:ext cx="4419524" cy="923925"/>
          </a:xfrm>
          <a:prstGeom prst="rect">
            <a:avLst/>
          </a:prstGeom>
        </p:spPr>
        <p:txBody>
          <a:bodyPr lIns="0" tIns="0" rIns="0" bIns="0" rtlCol="0" anchor="t">
            <a:spAutoFit/>
          </a:bodyPr>
          <a:lstStyle/>
          <a:p>
            <a:pPr algn="ctr">
              <a:lnSpc>
                <a:spcPts val="3375"/>
              </a:lnSpc>
            </a:pPr>
            <a:r>
              <a:rPr lang="en-US" sz="2250">
                <a:solidFill>
                  <a:srgbClr val="334155"/>
                </a:solidFill>
                <a:latin typeface="Fredoka"/>
                <a:ea typeface="Fredoka"/>
                <a:cs typeface="Fredoka"/>
                <a:sym typeface="Fredoka"/>
              </a:rPr>
              <a:t>Baby steps! Taking millions of years to make any progress. </a:t>
            </a:r>
          </a:p>
        </p:txBody>
      </p:sp>
      <p:grpSp>
        <p:nvGrpSpPr>
          <p:cNvPr id="24" name="Group 24"/>
          <p:cNvGrpSpPr/>
          <p:nvPr/>
        </p:nvGrpSpPr>
        <p:grpSpPr>
          <a:xfrm>
            <a:off x="3295612" y="5143500"/>
            <a:ext cx="400050" cy="457200"/>
            <a:chOff x="0" y="0"/>
            <a:chExt cx="533400" cy="609600"/>
          </a:xfrm>
        </p:grpSpPr>
        <p:sp>
          <p:nvSpPr>
            <p:cNvPr id="25" name="Freeform 25" descr="image.png"/>
            <p:cNvSpPr/>
            <p:nvPr/>
          </p:nvSpPr>
          <p:spPr>
            <a:xfrm>
              <a:off x="0" y="0"/>
              <a:ext cx="533400" cy="609600"/>
            </a:xfrm>
            <a:custGeom>
              <a:avLst/>
              <a:gdLst/>
              <a:ahLst/>
              <a:cxnLst/>
              <a:rect l="l" t="t" r="r" b="b"/>
              <a:pathLst>
                <a:path w="533400" h="609600">
                  <a:moveTo>
                    <a:pt x="0" y="0"/>
                  </a:moveTo>
                  <a:lnTo>
                    <a:pt x="533400" y="0"/>
                  </a:lnTo>
                  <a:lnTo>
                    <a:pt x="533400" y="609600"/>
                  </a:lnTo>
                  <a:lnTo>
                    <a:pt x="0" y="609600"/>
                  </a:lnTo>
                  <a:lnTo>
                    <a:pt x="0" y="0"/>
                  </a:lnTo>
                  <a:close/>
                </a:path>
              </a:pathLst>
            </a:custGeom>
            <a:blipFill>
              <a:blip r:embed="rId10"/>
              <a:stretch>
                <a:fillRect/>
              </a:stretch>
            </a:blipFill>
          </p:spPr>
        </p:sp>
      </p:grpSp>
      <p:grpSp>
        <p:nvGrpSpPr>
          <p:cNvPr id="26" name="Group 26"/>
          <p:cNvGrpSpPr/>
          <p:nvPr/>
        </p:nvGrpSpPr>
        <p:grpSpPr>
          <a:xfrm>
            <a:off x="9143781" y="5433131"/>
            <a:ext cx="285750" cy="457200"/>
            <a:chOff x="0" y="0"/>
            <a:chExt cx="381000" cy="609600"/>
          </a:xfrm>
        </p:grpSpPr>
        <p:sp>
          <p:nvSpPr>
            <p:cNvPr id="27" name="Freeform 27" descr="image.png"/>
            <p:cNvSpPr/>
            <p:nvPr/>
          </p:nvSpPr>
          <p:spPr>
            <a:xfrm>
              <a:off x="0" y="0"/>
              <a:ext cx="381000" cy="609600"/>
            </a:xfrm>
            <a:custGeom>
              <a:avLst/>
              <a:gdLst/>
              <a:ahLst/>
              <a:cxnLst/>
              <a:rect l="l" t="t" r="r" b="b"/>
              <a:pathLst>
                <a:path w="381000" h="609600">
                  <a:moveTo>
                    <a:pt x="0" y="0"/>
                  </a:moveTo>
                  <a:lnTo>
                    <a:pt x="381000" y="0"/>
                  </a:lnTo>
                  <a:lnTo>
                    <a:pt x="381000" y="609600"/>
                  </a:lnTo>
                  <a:lnTo>
                    <a:pt x="0" y="609600"/>
                  </a:lnTo>
                  <a:lnTo>
                    <a:pt x="0" y="0"/>
                  </a:lnTo>
                  <a:close/>
                </a:path>
              </a:pathLst>
            </a:custGeom>
            <a:blipFill>
              <a:blip r:embed="rId11"/>
              <a:stretch>
                <a:fillRect/>
              </a:stretch>
            </a:blipFill>
          </p:spPr>
        </p:sp>
      </p:grpSp>
      <p:grpSp>
        <p:nvGrpSpPr>
          <p:cNvPr id="28" name="Group 28"/>
          <p:cNvGrpSpPr/>
          <p:nvPr/>
        </p:nvGrpSpPr>
        <p:grpSpPr>
          <a:xfrm>
            <a:off x="14649298" y="5442656"/>
            <a:ext cx="571500" cy="457200"/>
            <a:chOff x="0" y="0"/>
            <a:chExt cx="762000" cy="609600"/>
          </a:xfrm>
        </p:grpSpPr>
        <p:sp>
          <p:nvSpPr>
            <p:cNvPr id="29" name="Freeform 29" descr="image.png"/>
            <p:cNvSpPr/>
            <p:nvPr/>
          </p:nvSpPr>
          <p:spPr>
            <a:xfrm>
              <a:off x="0" y="0"/>
              <a:ext cx="762000" cy="609600"/>
            </a:xfrm>
            <a:custGeom>
              <a:avLst/>
              <a:gdLst/>
              <a:ahLst/>
              <a:cxnLst/>
              <a:rect l="l" t="t" r="r" b="b"/>
              <a:pathLst>
                <a:path w="762000" h="609600">
                  <a:moveTo>
                    <a:pt x="0" y="0"/>
                  </a:moveTo>
                  <a:lnTo>
                    <a:pt x="762000" y="0"/>
                  </a:lnTo>
                  <a:lnTo>
                    <a:pt x="762000" y="609600"/>
                  </a:lnTo>
                  <a:lnTo>
                    <a:pt x="0" y="609600"/>
                  </a:lnTo>
                  <a:lnTo>
                    <a:pt x="0" y="0"/>
                  </a:lnTo>
                  <a:close/>
                </a:path>
              </a:pathLst>
            </a:custGeom>
            <a:blipFill>
              <a:blip r:embed="rId12"/>
              <a:stretch>
                <a:fillRect/>
              </a:stretch>
            </a:blipFill>
          </p:spPr>
        </p:sp>
      </p:grpSp>
      <p:grpSp>
        <p:nvGrpSpPr>
          <p:cNvPr id="30" name="Group 30"/>
          <p:cNvGrpSpPr/>
          <p:nvPr/>
        </p:nvGrpSpPr>
        <p:grpSpPr>
          <a:xfrm>
            <a:off x="1700212" y="700088"/>
            <a:ext cx="16532066" cy="785812"/>
            <a:chOff x="0" y="0"/>
            <a:chExt cx="22042755" cy="1047750"/>
          </a:xfrm>
        </p:grpSpPr>
        <p:sp>
          <p:nvSpPr>
            <p:cNvPr id="31" name="Freeform 31"/>
            <p:cNvSpPr/>
            <p:nvPr/>
          </p:nvSpPr>
          <p:spPr>
            <a:xfrm>
              <a:off x="0" y="0"/>
              <a:ext cx="22042754" cy="1047750"/>
            </a:xfrm>
            <a:custGeom>
              <a:avLst/>
              <a:gdLst/>
              <a:ahLst/>
              <a:cxnLst/>
              <a:rect l="l" t="t" r="r" b="b"/>
              <a:pathLst>
                <a:path w="22042754" h="1047750">
                  <a:moveTo>
                    <a:pt x="0" y="0"/>
                  </a:moveTo>
                  <a:lnTo>
                    <a:pt x="22042754" y="0"/>
                  </a:lnTo>
                  <a:lnTo>
                    <a:pt x="22042754" y="1047750"/>
                  </a:lnTo>
                  <a:lnTo>
                    <a:pt x="0" y="1047750"/>
                  </a:lnTo>
                  <a:close/>
                </a:path>
              </a:pathLst>
            </a:custGeom>
            <a:blipFill>
              <a:blip r:embed="rId13">
                <a:alphaModFix amt="0"/>
              </a:blip>
              <a:stretch>
                <a:fillRect t="-359929" b="-359929"/>
              </a:stretch>
            </a:blipFill>
          </p:spPr>
        </p:sp>
        <p:sp>
          <p:nvSpPr>
            <p:cNvPr id="32" name="TextBox 32"/>
            <p:cNvSpPr txBox="1"/>
            <p:nvPr/>
          </p:nvSpPr>
          <p:spPr>
            <a:xfrm>
              <a:off x="0" y="-38100"/>
              <a:ext cx="22042755" cy="108585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Learning Rate: How Big Are Your Steps?</a:t>
              </a:r>
            </a:p>
          </p:txBody>
        </p:sp>
      </p:grpSp>
      <p:sp>
        <p:nvSpPr>
          <p:cNvPr id="33" name="TextBox 33"/>
          <p:cNvSpPr txBox="1"/>
          <p:nvPr/>
        </p:nvSpPr>
        <p:spPr>
          <a:xfrm>
            <a:off x="842962" y="1596072"/>
            <a:ext cx="14792135" cy="178054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The learning rate is a hyperparameter that determines the size of the steps taken by a neural network while updating its weights during training.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842962" y="835819"/>
            <a:ext cx="514350" cy="514350"/>
            <a:chOff x="0" y="0"/>
            <a:chExt cx="685800" cy="685800"/>
          </a:xfrm>
        </p:grpSpPr>
        <p:sp>
          <p:nvSpPr>
            <p:cNvPr id="5" name="Freeform 5" descr="image.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3"/>
              <a:stretch>
                <a:fillRect t="-1388" b="-1388"/>
              </a:stretch>
            </a:blipFill>
          </p:spPr>
        </p:sp>
      </p:grpSp>
      <p:grpSp>
        <p:nvGrpSpPr>
          <p:cNvPr id="6" name="Group 6"/>
          <p:cNvGrpSpPr/>
          <p:nvPr/>
        </p:nvGrpSpPr>
        <p:grpSpPr>
          <a:xfrm>
            <a:off x="835819" y="3818334"/>
            <a:ext cx="16616362" cy="3864769"/>
            <a:chOff x="0" y="0"/>
            <a:chExt cx="22155150" cy="5153025"/>
          </a:xfrm>
        </p:grpSpPr>
        <p:sp>
          <p:nvSpPr>
            <p:cNvPr id="7" name="Freeform 7"/>
            <p:cNvSpPr/>
            <p:nvPr/>
          </p:nvSpPr>
          <p:spPr>
            <a:xfrm>
              <a:off x="0" y="0"/>
              <a:ext cx="22155150" cy="5153025"/>
            </a:xfrm>
            <a:custGeom>
              <a:avLst/>
              <a:gdLst/>
              <a:ahLst/>
              <a:cxnLst/>
              <a:rect l="l" t="t" r="r" b="b"/>
              <a:pathLst>
                <a:path w="22155150" h="5153025">
                  <a:moveTo>
                    <a:pt x="0" y="0"/>
                  </a:moveTo>
                  <a:lnTo>
                    <a:pt x="22155150" y="0"/>
                  </a:lnTo>
                  <a:lnTo>
                    <a:pt x="22155150" y="5153025"/>
                  </a:lnTo>
                  <a:lnTo>
                    <a:pt x="0" y="5153025"/>
                  </a:lnTo>
                </a:path>
              </a:pathLst>
            </a:custGeom>
            <a:solidFill>
              <a:srgbClr val="FFFFFF"/>
            </a:solidFill>
            <a:ln w="14288" cap="sq">
              <a:solidFill>
                <a:srgbClr val="4A7EBB"/>
              </a:solidFill>
              <a:prstDash val="solid"/>
              <a:miter/>
            </a:ln>
          </p:spPr>
        </p:sp>
      </p:grpSp>
      <p:graphicFrame>
        <p:nvGraphicFramePr>
          <p:cNvPr id="8" name="Table 8"/>
          <p:cNvGraphicFramePr>
            <a:graphicFrameLocks noGrp="1"/>
          </p:cNvGraphicFramePr>
          <p:nvPr/>
        </p:nvGraphicFramePr>
        <p:xfrm>
          <a:off x="904875" y="4777978"/>
          <a:ext cx="16497300" cy="3810000"/>
        </p:xfrm>
        <a:graphic>
          <a:graphicData uri="http://schemas.openxmlformats.org/drawingml/2006/table">
            <a:tbl>
              <a:tblPr/>
              <a:tblGrid>
                <a:gridCol w="4897191">
                  <a:extLst>
                    <a:ext uri="{9D8B030D-6E8A-4147-A177-3AD203B41FA5}">
                      <a16:colId xmlns:a16="http://schemas.microsoft.com/office/drawing/2014/main" val="20000"/>
                    </a:ext>
                  </a:extLst>
                </a:gridCol>
                <a:gridCol w="4111615">
                  <a:extLst>
                    <a:ext uri="{9D8B030D-6E8A-4147-A177-3AD203B41FA5}">
                      <a16:colId xmlns:a16="http://schemas.microsoft.com/office/drawing/2014/main" val="20001"/>
                    </a:ext>
                  </a:extLst>
                </a:gridCol>
                <a:gridCol w="3275868">
                  <a:extLst>
                    <a:ext uri="{9D8B030D-6E8A-4147-A177-3AD203B41FA5}">
                      <a16:colId xmlns:a16="http://schemas.microsoft.com/office/drawing/2014/main" val="20002"/>
                    </a:ext>
                  </a:extLst>
                </a:gridCol>
                <a:gridCol w="4212627">
                  <a:extLst>
                    <a:ext uri="{9D8B030D-6E8A-4147-A177-3AD203B41FA5}">
                      <a16:colId xmlns:a16="http://schemas.microsoft.com/office/drawing/2014/main" val="20003"/>
                    </a:ext>
                  </a:extLst>
                </a:gridCol>
              </a:tblGrid>
              <a:tr h="952499">
                <a:tc>
                  <a:txBody>
                    <a:bodyPr/>
                    <a:lstStyle/>
                    <a:p>
                      <a:pPr algn="l">
                        <a:lnSpc>
                          <a:spcPts val="2700"/>
                        </a:lnSpc>
                        <a:defRPr/>
                      </a:pPr>
                      <a:r>
                        <a:rPr lang="en-US" sz="2250" b="1">
                          <a:solidFill>
                            <a:srgbClr val="FFFFFF"/>
                          </a:solidFill>
                          <a:latin typeface="Poppins Bold"/>
                          <a:ea typeface="Poppins Bold"/>
                          <a:cs typeface="Poppins Bold"/>
                          <a:sym typeface="Poppins Bold"/>
                        </a:rPr>
                        <a:t>Practice Round (Epoch)</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3B82F6"/>
                    </a:solidFill>
                  </a:tcPr>
                </a:tc>
                <a:tc>
                  <a:txBody>
                    <a:bodyPr/>
                    <a:lstStyle/>
                    <a:p>
                      <a:pPr algn="l">
                        <a:lnSpc>
                          <a:spcPts val="2700"/>
                        </a:lnSpc>
                        <a:defRPr/>
                      </a:pPr>
                      <a:r>
                        <a:rPr lang="en-US" sz="2250" b="1">
                          <a:solidFill>
                            <a:srgbClr val="FFFFFF"/>
                          </a:solidFill>
                          <a:latin typeface="Poppins Bold"/>
                          <a:ea typeface="Poppins Bold"/>
                          <a:cs typeface="Poppins Bold"/>
                          <a:sym typeface="Poppins Bold"/>
                        </a:rPr>
                        <a:t>Robot's Guess</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3B82F6"/>
                    </a:solidFill>
                  </a:tcPr>
                </a:tc>
                <a:tc>
                  <a:txBody>
                    <a:bodyPr/>
                    <a:lstStyle/>
                    <a:p>
                      <a:pPr algn="l">
                        <a:lnSpc>
                          <a:spcPts val="2700"/>
                        </a:lnSpc>
                        <a:defRPr/>
                      </a:pPr>
                      <a:r>
                        <a:rPr lang="en-US" sz="2250" b="1">
                          <a:solidFill>
                            <a:srgbClr val="FFFFFF"/>
                          </a:solidFill>
                          <a:latin typeface="Poppins Bold"/>
                          <a:ea typeface="Poppins Bold"/>
                          <a:cs typeface="Poppins Bold"/>
                          <a:sym typeface="Poppins Bold"/>
                        </a:rPr>
                        <a:t>Error Level</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3B82F6"/>
                    </a:solidFill>
                  </a:tcPr>
                </a:tc>
                <a:tc>
                  <a:txBody>
                    <a:bodyPr/>
                    <a:lstStyle/>
                    <a:p>
                      <a:pPr algn="l">
                        <a:lnSpc>
                          <a:spcPts val="2700"/>
                        </a:lnSpc>
                        <a:defRPr/>
                      </a:pPr>
                      <a:r>
                        <a:rPr lang="en-US" sz="2250" b="1">
                          <a:solidFill>
                            <a:srgbClr val="FFFFFF"/>
                          </a:solidFill>
                          <a:latin typeface="Poppins Bold"/>
                          <a:ea typeface="Poppins Bold"/>
                          <a:cs typeface="Poppins Bold"/>
                          <a:sym typeface="Poppins Bold"/>
                        </a:rPr>
                        <a:t>How the Robot Feels</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3B82F6"/>
                    </a:solidFill>
                  </a:tcPr>
                </a:tc>
                <a:extLst>
                  <a:ext uri="{0D108BD9-81ED-4DB2-BD59-A6C34878D82A}">
                    <a16:rowId xmlns:a16="http://schemas.microsoft.com/office/drawing/2014/main" val="10000"/>
                  </a:ext>
                </a:extLst>
              </a:tr>
              <a:tr h="952499">
                <a:tc>
                  <a:txBody>
                    <a:bodyPr/>
                    <a:lstStyle/>
                    <a:p>
                      <a:pPr algn="l">
                        <a:lnSpc>
                          <a:spcPts val="2565"/>
                        </a:lnSpc>
                        <a:defRPr/>
                      </a:pPr>
                      <a:r>
                        <a:rPr lang="en-US" sz="2137">
                          <a:solidFill>
                            <a:srgbClr val="334155"/>
                          </a:solidFill>
                          <a:latin typeface="Fredoka"/>
                          <a:ea typeface="Fredoka"/>
                          <a:cs typeface="Fredoka"/>
                          <a:sym typeface="Fredoka"/>
                        </a:rPr>
                        <a:t>Epoch 1</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Total wild guess!</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Very High (90%)</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Confused</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52499">
                <a:tc>
                  <a:txBody>
                    <a:bodyPr/>
                    <a:lstStyle/>
                    <a:p>
                      <a:pPr algn="l">
                        <a:lnSpc>
                          <a:spcPts val="2565"/>
                        </a:lnSpc>
                        <a:defRPr/>
                      </a:pPr>
                      <a:r>
                        <a:rPr lang="en-US" sz="2137">
                          <a:solidFill>
                            <a:srgbClr val="334155"/>
                          </a:solidFill>
                          <a:latin typeface="Fredoka"/>
                          <a:ea typeface="Fredoka"/>
                          <a:cs typeface="Fredoka"/>
                          <a:sym typeface="Fredoka"/>
                        </a:rPr>
                        <a:t>Epoch 100</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Getting warmer...</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Medium (30%)</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Improving</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52503">
                <a:tc>
                  <a:txBody>
                    <a:bodyPr/>
                    <a:lstStyle/>
                    <a:p>
                      <a:pPr algn="l">
                        <a:lnSpc>
                          <a:spcPts val="2565"/>
                        </a:lnSpc>
                        <a:defRPr/>
                      </a:pPr>
                      <a:r>
                        <a:rPr lang="en-US" sz="2137">
                          <a:solidFill>
                            <a:srgbClr val="334155"/>
                          </a:solidFill>
                          <a:latin typeface="Fredoka"/>
                          <a:ea typeface="Fredoka"/>
                          <a:cs typeface="Fredoka"/>
                          <a:sym typeface="Fredoka"/>
                        </a:rPr>
                        <a:t>Epoch 1000</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Near perfect accuracy!</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Near Zero (0.8%)</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565"/>
                        </a:lnSpc>
                        <a:defRPr/>
                      </a:pPr>
                      <a:r>
                        <a:rPr lang="en-US" sz="2137">
                          <a:solidFill>
                            <a:srgbClr val="334155"/>
                          </a:solidFill>
                          <a:latin typeface="Fredoka"/>
                          <a:ea typeface="Fredoka"/>
                          <a:cs typeface="Fredoka"/>
                          <a:sym typeface="Fredoka"/>
                        </a:rPr>
                        <a:t>Mastered It!</a:t>
                      </a:r>
                      <a:endParaRPr lang="en-US" sz="1100"/>
                    </a:p>
                  </a:txBody>
                  <a:tcPr marL="79573" marR="79573" marT="79573" marB="7957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9" name="Group 9"/>
          <p:cNvGrpSpPr/>
          <p:nvPr/>
        </p:nvGrpSpPr>
        <p:grpSpPr>
          <a:xfrm>
            <a:off x="885825" y="5732859"/>
            <a:ext cx="4902841" cy="28575"/>
            <a:chOff x="0" y="0"/>
            <a:chExt cx="6537122" cy="38100"/>
          </a:xfrm>
        </p:grpSpPr>
        <p:sp>
          <p:nvSpPr>
            <p:cNvPr id="10" name="Freeform 10"/>
            <p:cNvSpPr/>
            <p:nvPr/>
          </p:nvSpPr>
          <p:spPr>
            <a:xfrm>
              <a:off x="0" y="0"/>
              <a:ext cx="6537071" cy="38100"/>
            </a:xfrm>
            <a:custGeom>
              <a:avLst/>
              <a:gdLst/>
              <a:ahLst/>
              <a:cxnLst/>
              <a:rect l="l" t="t" r="r" b="b"/>
              <a:pathLst>
                <a:path w="6537071" h="38100">
                  <a:moveTo>
                    <a:pt x="0" y="0"/>
                  </a:moveTo>
                  <a:lnTo>
                    <a:pt x="6537071" y="0"/>
                  </a:lnTo>
                  <a:lnTo>
                    <a:pt x="6537071" y="38100"/>
                  </a:lnTo>
                  <a:lnTo>
                    <a:pt x="0" y="38100"/>
                  </a:lnTo>
                  <a:close/>
                </a:path>
              </a:pathLst>
            </a:custGeom>
            <a:solidFill>
              <a:srgbClr val="F1F5F9"/>
            </a:solidFill>
          </p:spPr>
        </p:sp>
      </p:grpSp>
      <p:grpSp>
        <p:nvGrpSpPr>
          <p:cNvPr id="11" name="Group 11"/>
          <p:cNvGrpSpPr/>
          <p:nvPr/>
        </p:nvGrpSpPr>
        <p:grpSpPr>
          <a:xfrm>
            <a:off x="5788666" y="5732859"/>
            <a:ext cx="4116362" cy="28575"/>
            <a:chOff x="0" y="0"/>
            <a:chExt cx="5488483" cy="38100"/>
          </a:xfrm>
        </p:grpSpPr>
        <p:sp>
          <p:nvSpPr>
            <p:cNvPr id="12" name="Freeform 12"/>
            <p:cNvSpPr/>
            <p:nvPr/>
          </p:nvSpPr>
          <p:spPr>
            <a:xfrm>
              <a:off x="0" y="0"/>
              <a:ext cx="5488432" cy="38100"/>
            </a:xfrm>
            <a:custGeom>
              <a:avLst/>
              <a:gdLst/>
              <a:ahLst/>
              <a:cxnLst/>
              <a:rect l="l" t="t" r="r" b="b"/>
              <a:pathLst>
                <a:path w="5488432" h="38100">
                  <a:moveTo>
                    <a:pt x="0" y="0"/>
                  </a:moveTo>
                  <a:lnTo>
                    <a:pt x="5488432" y="0"/>
                  </a:lnTo>
                  <a:lnTo>
                    <a:pt x="5488432" y="38100"/>
                  </a:lnTo>
                  <a:lnTo>
                    <a:pt x="0" y="38100"/>
                  </a:lnTo>
                  <a:close/>
                </a:path>
              </a:pathLst>
            </a:custGeom>
            <a:solidFill>
              <a:srgbClr val="F1F5F9"/>
            </a:solidFill>
          </p:spPr>
        </p:sp>
      </p:grpSp>
      <p:grpSp>
        <p:nvGrpSpPr>
          <p:cNvPr id="13" name="Group 13"/>
          <p:cNvGrpSpPr/>
          <p:nvPr/>
        </p:nvGrpSpPr>
        <p:grpSpPr>
          <a:xfrm>
            <a:off x="9905028" y="5732859"/>
            <a:ext cx="3279648" cy="28575"/>
            <a:chOff x="0" y="0"/>
            <a:chExt cx="4372864" cy="38100"/>
          </a:xfrm>
        </p:grpSpPr>
        <p:sp>
          <p:nvSpPr>
            <p:cNvPr id="14" name="Freeform 14"/>
            <p:cNvSpPr/>
            <p:nvPr/>
          </p:nvSpPr>
          <p:spPr>
            <a:xfrm>
              <a:off x="0" y="0"/>
              <a:ext cx="4372864" cy="38100"/>
            </a:xfrm>
            <a:custGeom>
              <a:avLst/>
              <a:gdLst/>
              <a:ahLst/>
              <a:cxnLst/>
              <a:rect l="l" t="t" r="r" b="b"/>
              <a:pathLst>
                <a:path w="4372864" h="38100">
                  <a:moveTo>
                    <a:pt x="0" y="0"/>
                  </a:moveTo>
                  <a:lnTo>
                    <a:pt x="4372864" y="0"/>
                  </a:lnTo>
                  <a:lnTo>
                    <a:pt x="4372864" y="38100"/>
                  </a:lnTo>
                  <a:lnTo>
                    <a:pt x="0" y="38100"/>
                  </a:lnTo>
                  <a:close/>
                </a:path>
              </a:pathLst>
            </a:custGeom>
            <a:solidFill>
              <a:srgbClr val="F1F5F9"/>
            </a:solidFill>
          </p:spPr>
        </p:sp>
      </p:grpSp>
      <p:grpSp>
        <p:nvGrpSpPr>
          <p:cNvPr id="15" name="Group 15"/>
          <p:cNvGrpSpPr/>
          <p:nvPr/>
        </p:nvGrpSpPr>
        <p:grpSpPr>
          <a:xfrm>
            <a:off x="13184686" y="5732859"/>
            <a:ext cx="4217489" cy="28575"/>
            <a:chOff x="0" y="0"/>
            <a:chExt cx="5623319" cy="38100"/>
          </a:xfrm>
        </p:grpSpPr>
        <p:sp>
          <p:nvSpPr>
            <p:cNvPr id="16" name="Freeform 16"/>
            <p:cNvSpPr/>
            <p:nvPr/>
          </p:nvSpPr>
          <p:spPr>
            <a:xfrm>
              <a:off x="0" y="0"/>
              <a:ext cx="5623306" cy="38100"/>
            </a:xfrm>
            <a:custGeom>
              <a:avLst/>
              <a:gdLst/>
              <a:ahLst/>
              <a:cxnLst/>
              <a:rect l="l" t="t" r="r" b="b"/>
              <a:pathLst>
                <a:path w="5623306" h="38100">
                  <a:moveTo>
                    <a:pt x="0" y="0"/>
                  </a:moveTo>
                  <a:lnTo>
                    <a:pt x="5623306" y="0"/>
                  </a:lnTo>
                  <a:lnTo>
                    <a:pt x="5623306" y="38100"/>
                  </a:lnTo>
                  <a:lnTo>
                    <a:pt x="0" y="38100"/>
                  </a:lnTo>
                  <a:close/>
                </a:path>
              </a:pathLst>
            </a:custGeom>
            <a:solidFill>
              <a:srgbClr val="F1F5F9"/>
            </a:solidFill>
          </p:spPr>
        </p:sp>
      </p:grpSp>
      <p:grpSp>
        <p:nvGrpSpPr>
          <p:cNvPr id="17" name="Group 17"/>
          <p:cNvGrpSpPr/>
          <p:nvPr/>
        </p:nvGrpSpPr>
        <p:grpSpPr>
          <a:xfrm>
            <a:off x="885825" y="6682978"/>
            <a:ext cx="4902841" cy="28575"/>
            <a:chOff x="0" y="0"/>
            <a:chExt cx="6537122" cy="38100"/>
          </a:xfrm>
        </p:grpSpPr>
        <p:sp>
          <p:nvSpPr>
            <p:cNvPr id="18" name="Freeform 18"/>
            <p:cNvSpPr/>
            <p:nvPr/>
          </p:nvSpPr>
          <p:spPr>
            <a:xfrm>
              <a:off x="0" y="0"/>
              <a:ext cx="6537071" cy="38100"/>
            </a:xfrm>
            <a:custGeom>
              <a:avLst/>
              <a:gdLst/>
              <a:ahLst/>
              <a:cxnLst/>
              <a:rect l="l" t="t" r="r" b="b"/>
              <a:pathLst>
                <a:path w="6537071" h="38100">
                  <a:moveTo>
                    <a:pt x="0" y="0"/>
                  </a:moveTo>
                  <a:lnTo>
                    <a:pt x="6537071" y="0"/>
                  </a:lnTo>
                  <a:lnTo>
                    <a:pt x="6537071" y="38100"/>
                  </a:lnTo>
                  <a:lnTo>
                    <a:pt x="0" y="38100"/>
                  </a:lnTo>
                  <a:close/>
                </a:path>
              </a:pathLst>
            </a:custGeom>
            <a:solidFill>
              <a:srgbClr val="F1F5F9"/>
            </a:solidFill>
          </p:spPr>
        </p:sp>
      </p:grpSp>
      <p:grpSp>
        <p:nvGrpSpPr>
          <p:cNvPr id="19" name="Group 19"/>
          <p:cNvGrpSpPr/>
          <p:nvPr/>
        </p:nvGrpSpPr>
        <p:grpSpPr>
          <a:xfrm>
            <a:off x="5788666" y="6682978"/>
            <a:ext cx="4116362" cy="28575"/>
            <a:chOff x="0" y="0"/>
            <a:chExt cx="5488483" cy="38100"/>
          </a:xfrm>
        </p:grpSpPr>
        <p:sp>
          <p:nvSpPr>
            <p:cNvPr id="20" name="Freeform 20"/>
            <p:cNvSpPr/>
            <p:nvPr/>
          </p:nvSpPr>
          <p:spPr>
            <a:xfrm>
              <a:off x="0" y="0"/>
              <a:ext cx="5488432" cy="38100"/>
            </a:xfrm>
            <a:custGeom>
              <a:avLst/>
              <a:gdLst/>
              <a:ahLst/>
              <a:cxnLst/>
              <a:rect l="l" t="t" r="r" b="b"/>
              <a:pathLst>
                <a:path w="5488432" h="38100">
                  <a:moveTo>
                    <a:pt x="0" y="0"/>
                  </a:moveTo>
                  <a:lnTo>
                    <a:pt x="5488432" y="0"/>
                  </a:lnTo>
                  <a:lnTo>
                    <a:pt x="5488432" y="38100"/>
                  </a:lnTo>
                  <a:lnTo>
                    <a:pt x="0" y="38100"/>
                  </a:lnTo>
                  <a:close/>
                </a:path>
              </a:pathLst>
            </a:custGeom>
            <a:solidFill>
              <a:srgbClr val="F1F5F9"/>
            </a:solidFill>
          </p:spPr>
        </p:sp>
      </p:grpSp>
      <p:grpSp>
        <p:nvGrpSpPr>
          <p:cNvPr id="21" name="Group 21"/>
          <p:cNvGrpSpPr/>
          <p:nvPr/>
        </p:nvGrpSpPr>
        <p:grpSpPr>
          <a:xfrm>
            <a:off x="9905028" y="6682978"/>
            <a:ext cx="3279648" cy="28575"/>
            <a:chOff x="0" y="0"/>
            <a:chExt cx="4372864" cy="38100"/>
          </a:xfrm>
        </p:grpSpPr>
        <p:sp>
          <p:nvSpPr>
            <p:cNvPr id="22" name="Freeform 22"/>
            <p:cNvSpPr/>
            <p:nvPr/>
          </p:nvSpPr>
          <p:spPr>
            <a:xfrm>
              <a:off x="0" y="0"/>
              <a:ext cx="4372864" cy="38100"/>
            </a:xfrm>
            <a:custGeom>
              <a:avLst/>
              <a:gdLst/>
              <a:ahLst/>
              <a:cxnLst/>
              <a:rect l="l" t="t" r="r" b="b"/>
              <a:pathLst>
                <a:path w="4372864" h="38100">
                  <a:moveTo>
                    <a:pt x="0" y="0"/>
                  </a:moveTo>
                  <a:lnTo>
                    <a:pt x="4372864" y="0"/>
                  </a:lnTo>
                  <a:lnTo>
                    <a:pt x="4372864" y="38100"/>
                  </a:lnTo>
                  <a:lnTo>
                    <a:pt x="0" y="38100"/>
                  </a:lnTo>
                  <a:close/>
                </a:path>
              </a:pathLst>
            </a:custGeom>
            <a:solidFill>
              <a:srgbClr val="F1F5F9"/>
            </a:solidFill>
          </p:spPr>
        </p:sp>
      </p:grpSp>
      <p:grpSp>
        <p:nvGrpSpPr>
          <p:cNvPr id="23" name="Group 23"/>
          <p:cNvGrpSpPr/>
          <p:nvPr/>
        </p:nvGrpSpPr>
        <p:grpSpPr>
          <a:xfrm>
            <a:off x="13184686" y="6682978"/>
            <a:ext cx="4217489" cy="28575"/>
            <a:chOff x="0" y="0"/>
            <a:chExt cx="5623319" cy="38100"/>
          </a:xfrm>
        </p:grpSpPr>
        <p:sp>
          <p:nvSpPr>
            <p:cNvPr id="24" name="Freeform 24"/>
            <p:cNvSpPr/>
            <p:nvPr/>
          </p:nvSpPr>
          <p:spPr>
            <a:xfrm>
              <a:off x="0" y="0"/>
              <a:ext cx="5623306" cy="38100"/>
            </a:xfrm>
            <a:custGeom>
              <a:avLst/>
              <a:gdLst/>
              <a:ahLst/>
              <a:cxnLst/>
              <a:rect l="l" t="t" r="r" b="b"/>
              <a:pathLst>
                <a:path w="5623306" h="38100">
                  <a:moveTo>
                    <a:pt x="0" y="0"/>
                  </a:moveTo>
                  <a:lnTo>
                    <a:pt x="5623306" y="0"/>
                  </a:lnTo>
                  <a:lnTo>
                    <a:pt x="5623306" y="38100"/>
                  </a:lnTo>
                  <a:lnTo>
                    <a:pt x="0" y="38100"/>
                  </a:lnTo>
                  <a:close/>
                </a:path>
              </a:pathLst>
            </a:custGeom>
            <a:solidFill>
              <a:srgbClr val="F1F5F9"/>
            </a:solidFill>
          </p:spPr>
        </p:sp>
      </p:grpSp>
      <p:grpSp>
        <p:nvGrpSpPr>
          <p:cNvPr id="25" name="Group 25"/>
          <p:cNvGrpSpPr/>
          <p:nvPr/>
        </p:nvGrpSpPr>
        <p:grpSpPr>
          <a:xfrm>
            <a:off x="1571625" y="700088"/>
            <a:ext cx="16667083" cy="785812"/>
            <a:chOff x="0" y="0"/>
            <a:chExt cx="22222778" cy="1047750"/>
          </a:xfrm>
        </p:grpSpPr>
        <p:sp>
          <p:nvSpPr>
            <p:cNvPr id="26" name="Freeform 26"/>
            <p:cNvSpPr/>
            <p:nvPr/>
          </p:nvSpPr>
          <p:spPr>
            <a:xfrm>
              <a:off x="0" y="0"/>
              <a:ext cx="22222775" cy="1047750"/>
            </a:xfrm>
            <a:custGeom>
              <a:avLst/>
              <a:gdLst/>
              <a:ahLst/>
              <a:cxnLst/>
              <a:rect l="l" t="t" r="r" b="b"/>
              <a:pathLst>
                <a:path w="22222775" h="1047750">
                  <a:moveTo>
                    <a:pt x="0" y="0"/>
                  </a:moveTo>
                  <a:lnTo>
                    <a:pt x="22222775" y="0"/>
                  </a:lnTo>
                  <a:lnTo>
                    <a:pt x="22222775" y="1047750"/>
                  </a:lnTo>
                  <a:lnTo>
                    <a:pt x="0" y="1047750"/>
                  </a:lnTo>
                  <a:close/>
                </a:path>
              </a:pathLst>
            </a:custGeom>
            <a:blipFill>
              <a:blip r:embed="rId4">
                <a:alphaModFix amt="0"/>
              </a:blip>
              <a:stretch>
                <a:fillRect t="-363277" b="-363277"/>
              </a:stretch>
            </a:blipFill>
          </p:spPr>
        </p:sp>
        <p:sp>
          <p:nvSpPr>
            <p:cNvPr id="27" name="TextBox 27"/>
            <p:cNvSpPr txBox="1"/>
            <p:nvPr/>
          </p:nvSpPr>
          <p:spPr>
            <a:xfrm>
              <a:off x="0" y="-38100"/>
              <a:ext cx="22222778" cy="1085850"/>
            </a:xfrm>
            <a:prstGeom prst="rect">
              <a:avLst/>
            </a:prstGeom>
          </p:spPr>
          <p:txBody>
            <a:bodyPr lIns="0" tIns="0" rIns="0" bIns="0" rtlCol="0" anchor="ctr"/>
            <a:lstStyle/>
            <a:p>
              <a:pPr algn="l">
                <a:lnSpc>
                  <a:spcPts val="4860"/>
                </a:lnSpc>
              </a:pPr>
              <a:r>
                <a:rPr lang="en-US" sz="4050" b="1">
                  <a:solidFill>
                    <a:srgbClr val="1E3A8A"/>
                  </a:solidFill>
                  <a:latin typeface="Poppins Bold"/>
                  <a:ea typeface="Poppins Bold"/>
                  <a:cs typeface="Poppins Bold"/>
                  <a:sym typeface="Poppins Bold"/>
                </a:rPr>
                <a:t>Epochs: Practice Makes Perfect!</a:t>
              </a:r>
            </a:p>
          </p:txBody>
        </p:sp>
      </p:grpSp>
      <p:sp>
        <p:nvSpPr>
          <p:cNvPr id="28" name="TextBox 28"/>
          <p:cNvSpPr txBox="1"/>
          <p:nvPr/>
        </p:nvSpPr>
        <p:spPr>
          <a:xfrm>
            <a:off x="835819" y="2028547"/>
            <a:ext cx="14336523" cy="1180465"/>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An epoch is one complete pass through the entire training dataset during the training process.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sp>
        <p:nvSpPr>
          <p:cNvPr id="4" name="TextBox 4"/>
          <p:cNvSpPr txBox="1"/>
          <p:nvPr/>
        </p:nvSpPr>
        <p:spPr>
          <a:xfrm>
            <a:off x="1028700" y="933450"/>
            <a:ext cx="3624262"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Conclusion</a:t>
            </a:r>
          </a:p>
        </p:txBody>
      </p:sp>
      <p:sp>
        <p:nvSpPr>
          <p:cNvPr id="5" name="TextBox 5"/>
          <p:cNvSpPr txBox="1"/>
          <p:nvPr/>
        </p:nvSpPr>
        <p:spPr>
          <a:xfrm>
            <a:off x="1028700" y="2655493"/>
            <a:ext cx="15465031" cy="7159711"/>
          </a:xfrm>
          <a:prstGeom prst="rect">
            <a:avLst/>
          </a:prstGeom>
        </p:spPr>
        <p:txBody>
          <a:bodyPr lIns="0" tIns="0" rIns="0" bIns="0" rtlCol="0" anchor="t">
            <a:spAutoFit/>
          </a:bodyPr>
          <a:lstStyle/>
          <a:p>
            <a:pPr algn="l">
              <a:lnSpc>
                <a:spcPts val="4370"/>
              </a:lnSpc>
            </a:pPr>
            <a:r>
              <a:rPr lang="en-US" sz="3121">
                <a:solidFill>
                  <a:srgbClr val="000000"/>
                </a:solidFill>
                <a:latin typeface="Canva Sans"/>
                <a:ea typeface="Canva Sans"/>
                <a:cs typeface="Canva Sans"/>
                <a:sym typeface="Canva Sans"/>
              </a:rPr>
              <a:t>Forward propagation calculated the output, while backpropagation updated the network's weights to reduce errors. The experiment showed that the learning rate controls how fast the model learns, and the number of epochs controls how many times the model learns from the data. A very low learning rate can make training slow, while a very high learning rate can make training unstable. Too few epochs may cause underfitting, while too many may cause overfitting. Therefore, choosing a suitable learning rate and number of epochs is important for achieving good model performance.</a:t>
            </a:r>
          </a:p>
          <a:p>
            <a:pPr algn="l">
              <a:lnSpc>
                <a:spcPts val="4370"/>
              </a:lnSpc>
            </a:pPr>
            <a:endParaRPr lang="en-US" sz="3121">
              <a:solidFill>
                <a:srgbClr val="000000"/>
              </a:solidFill>
              <a:latin typeface="Canva Sans"/>
              <a:ea typeface="Canva Sans"/>
              <a:cs typeface="Canva Sans"/>
              <a:sym typeface="Canva Sans"/>
            </a:endParaRPr>
          </a:p>
          <a:p>
            <a:pPr algn="l">
              <a:lnSpc>
                <a:spcPts val="4370"/>
              </a:lnSpc>
            </a:pPr>
            <a:endParaRPr lang="en-US" sz="3121">
              <a:solidFill>
                <a:srgbClr val="000000"/>
              </a:solidFill>
              <a:latin typeface="Canva Sans"/>
              <a:ea typeface="Canva Sans"/>
              <a:cs typeface="Canva Sans"/>
              <a:sym typeface="Canva Sans"/>
            </a:endParaRPr>
          </a:p>
          <a:p>
            <a:pPr algn="l">
              <a:lnSpc>
                <a:spcPts val="4370"/>
              </a:lnSpc>
            </a:pPr>
            <a:endParaRPr lang="en-US" sz="3121">
              <a:solidFill>
                <a:srgbClr val="000000"/>
              </a:solidFill>
              <a:latin typeface="Canva Sans"/>
              <a:ea typeface="Canva Sans"/>
              <a:cs typeface="Canva Sans"/>
              <a:sym typeface="Canva Sans"/>
            </a:endParaRPr>
          </a:p>
          <a:p>
            <a:pPr algn="l">
              <a:lnSpc>
                <a:spcPts val="4370"/>
              </a:lnSpc>
            </a:pPr>
            <a:endParaRPr lang="en-US" sz="3121">
              <a:solidFill>
                <a:srgbClr val="000000"/>
              </a:solidFill>
              <a:latin typeface="Canva Sans"/>
              <a:ea typeface="Canva Sans"/>
              <a:cs typeface="Canva Sans"/>
              <a:sym typeface="Canva Sans"/>
            </a:endParaRPr>
          </a:p>
          <a:p>
            <a:pPr algn="l">
              <a:lnSpc>
                <a:spcPts val="4370"/>
              </a:lnSpc>
            </a:pPr>
            <a:endParaRPr lang="en-US" sz="3121">
              <a:solidFill>
                <a:srgbClr val="000000"/>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995249" y="3426785"/>
            <a:ext cx="4298886" cy="4175813"/>
            <a:chOff x="0" y="0"/>
            <a:chExt cx="14120250" cy="13716000"/>
          </a:xfrm>
        </p:grpSpPr>
        <p:sp>
          <p:nvSpPr>
            <p:cNvPr id="4" name="Freeform 4"/>
            <p:cNvSpPr/>
            <p:nvPr/>
          </p:nvSpPr>
          <p:spPr>
            <a:xfrm>
              <a:off x="0" y="0"/>
              <a:ext cx="14120250" cy="13716000"/>
            </a:xfrm>
            <a:custGeom>
              <a:avLst/>
              <a:gdLst/>
              <a:ahLst/>
              <a:cxnLst/>
              <a:rect l="l" t="t" r="r" b="b"/>
              <a:pathLst>
                <a:path w="14120250" h="13716000">
                  <a:moveTo>
                    <a:pt x="0" y="0"/>
                  </a:moveTo>
                  <a:lnTo>
                    <a:pt x="14120250" y="0"/>
                  </a:lnTo>
                  <a:lnTo>
                    <a:pt x="14120250" y="13716000"/>
                  </a:lnTo>
                  <a:lnTo>
                    <a:pt x="0" y="13716000"/>
                  </a:lnTo>
                  <a:lnTo>
                    <a:pt x="0" y="0"/>
                  </a:lnTo>
                  <a:close/>
                </a:path>
              </a:pathLst>
            </a:custGeom>
            <a:blipFill>
              <a:blip r:embed="rId3"/>
              <a:stretch>
                <a:fillRect t="-1473" b="-1473"/>
              </a:stretch>
            </a:blipFill>
          </p:spPr>
        </p:sp>
      </p:grpSp>
      <p:sp>
        <p:nvSpPr>
          <p:cNvPr id="5" name="TextBox 5"/>
          <p:cNvSpPr txBox="1"/>
          <p:nvPr/>
        </p:nvSpPr>
        <p:spPr>
          <a:xfrm>
            <a:off x="3012305" y="782190"/>
            <a:ext cx="10139612" cy="1675133"/>
          </a:xfrm>
          <a:prstGeom prst="rect">
            <a:avLst/>
          </a:prstGeom>
        </p:spPr>
        <p:txBody>
          <a:bodyPr lIns="0" tIns="0" rIns="0" bIns="0" rtlCol="0" anchor="t">
            <a:spAutoFit/>
          </a:bodyPr>
          <a:lstStyle/>
          <a:p>
            <a:pPr algn="ctr">
              <a:lnSpc>
                <a:spcPts val="13719"/>
              </a:lnSpc>
            </a:pPr>
            <a:r>
              <a:rPr lang="en-US" sz="9799" b="1">
                <a:solidFill>
                  <a:srgbClr val="2563EB"/>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995</Words>
  <Application>Microsoft Office PowerPoint</Application>
  <PresentationFormat>Custom</PresentationFormat>
  <Paragraphs>105</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Calibri</vt:lpstr>
      <vt:lpstr>Canva Sans</vt:lpstr>
      <vt:lpstr>Calibri (MS)</vt:lpstr>
      <vt:lpstr>Canva Sans Bold</vt:lpstr>
      <vt:lpstr>Calibri (MS) Bold</vt:lpstr>
      <vt:lpstr>Poppins Bold</vt:lpstr>
      <vt:lpstr>Arial</vt:lpstr>
      <vt:lpstr>Fredoka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 Defation=It is a computational model inspired by human brain.It consist of interconnected neurons organized into layers that learn patterns from data to perform tasks such as calssification,prediction and recognition</dc:title>
  <cp:lastModifiedBy>Narendra Patil</cp:lastModifiedBy>
  <cp:revision>2</cp:revision>
  <dcterms:created xsi:type="dcterms:W3CDTF">2006-08-16T00:00:00Z</dcterms:created>
  <dcterms:modified xsi:type="dcterms:W3CDTF">2026-08-31T17:35:30Z</dcterms:modified>
  <dc:identifier>DAHQUM5HUqI</dc:identifier>
</cp:coreProperties>
</file>